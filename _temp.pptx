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11"/>
      <p:bold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Noto Sans KR" panose="020B0200000000000000" pitchFamily="50" charset="-127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 u" userId="0f930aa2479a52fd" providerId="LiveId" clId="{1BF6A935-C8B8-4EA2-B204-6F7D0330E7F4}"/>
    <pc:docChg chg="modSld">
      <pc:chgData name="ser u" userId="0f930aa2479a52fd" providerId="LiveId" clId="{1BF6A935-C8B8-4EA2-B204-6F7D0330E7F4}" dt="2026-04-12T07:17:41.537" v="3" actId="20577"/>
      <pc:docMkLst>
        <pc:docMk/>
      </pc:docMkLst>
      <pc:sldChg chg="modSp mod">
        <pc:chgData name="ser u" userId="0f930aa2479a52fd" providerId="LiveId" clId="{1BF6A935-C8B8-4EA2-B204-6F7D0330E7F4}" dt="2026-04-12T07:17:41.537" v="3" actId="20577"/>
        <pc:sldMkLst>
          <pc:docMk/>
          <pc:sldMk cId="0" sldId="259"/>
        </pc:sldMkLst>
        <pc:spChg chg="mod">
          <ac:chgData name="ser u" userId="0f930aa2479a52fd" providerId="LiveId" clId="{1BF6A935-C8B8-4EA2-B204-6F7D0330E7F4}" dt="2026-04-12T07:17:34.468" v="1" actId="20577"/>
          <ac:spMkLst>
            <pc:docMk/>
            <pc:sldMk cId="0" sldId="259"/>
            <ac:spMk id="295" creationId="{00000000-0000-0000-0000-000000000000}"/>
          </ac:spMkLst>
        </pc:spChg>
        <pc:spChg chg="mod">
          <ac:chgData name="ser u" userId="0f930aa2479a52fd" providerId="LiveId" clId="{1BF6A935-C8B8-4EA2-B204-6F7D0330E7F4}" dt="2026-04-12T07:17:41.537" v="3" actId="20577"/>
          <ac:spMkLst>
            <pc:docMk/>
            <pc:sldMk cId="0" sldId="259"/>
            <ac:spMk id="29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2eb4831da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62eb4831da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62eb4831da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62eb4831da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086c7456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086c7456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62eb4831da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62eb4831da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792b7e50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792b7e50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792b7e50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792b7e50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792b7e50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792b7e50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62eb4831da_0_1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62eb4831da_0_1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2-Line Title">
  <p:cSld name="Multi-use layout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365760" y="1122367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0" y="343500"/>
            <a:ext cx="1371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1">
  <p:cSld name="Multi-use layout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3" y="3761952"/>
            <a:ext cx="9143997" cy="1371564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t="140" b="14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2">
  <p:cSld name="Multi-use layout_1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0" y="4370576"/>
            <a:ext cx="9144001" cy="772925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t="140" b="43664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t="140" b="43664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t="140" b="43664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Arrows">
  <p:cSld name="Multi-use layout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l="22840"/>
          <a:stretch/>
        </p:blipFill>
        <p:spPr>
          <a:xfrm flipH="1">
            <a:off x="7782375" y="2935675"/>
            <a:ext cx="1368150" cy="19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Layout">
  <p:cSld name="One Column Layou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6261300" cy="3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211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>
            <a:spLocks noGrp="1"/>
          </p:cNvSpPr>
          <p:nvPr>
            <p:ph type="subTitle" idx="2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Layout">
  <p:cSld name="One Column Layout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2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>
            <a:spLocks noGrp="1"/>
          </p:cNvSpPr>
          <p:nvPr>
            <p:ph type="subTitle" idx="3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Layout">
  <p:cSld name="One Column Layout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26976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body" idx="2"/>
          </p:nvPr>
        </p:nvSpPr>
        <p:spPr>
          <a:xfrm>
            <a:off x="3169031" y="1371600"/>
            <a:ext cx="26976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3"/>
          </p:nvPr>
        </p:nvSpPr>
        <p:spPr>
          <a:xfrm>
            <a:off x="6127925" y="1371600"/>
            <a:ext cx="26976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subTitle" idx="4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Layout">
  <p:cSld name="One Column Layout_1_1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4846508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body" idx="2"/>
          </p:nvPr>
        </p:nvSpPr>
        <p:spPr>
          <a:xfrm>
            <a:off x="2459408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3"/>
          </p:nvPr>
        </p:nvSpPr>
        <p:spPr>
          <a:xfrm>
            <a:off x="4673192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4"/>
          </p:nvPr>
        </p:nvSpPr>
        <p:spPr>
          <a:xfrm>
            <a:off x="6887000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4" name="Google Shape;94;p10"/>
          <p:cNvSpPr/>
          <p:nvPr/>
        </p:nvSpPr>
        <p:spPr>
          <a:xfrm>
            <a:off x="660640" y="486709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>
            <a:spLocks noGrp="1"/>
          </p:cNvSpPr>
          <p:nvPr>
            <p:ph type="subTitle" idx="5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365750" y="274320"/>
            <a:ext cx="192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2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6369225" y="228600"/>
            <a:ext cx="1322446" cy="1414662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2767075"/>
            <a:ext cx="2772174" cy="2372082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l="16764"/>
          <a:stretch/>
        </p:blipFill>
        <p:spPr>
          <a:xfrm rot="10800000">
            <a:off x="7338076" y="640000"/>
            <a:ext cx="1805925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Left Bar">
  <p:cSld name="Agenda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body" idx="1"/>
          </p:nvPr>
        </p:nvSpPr>
        <p:spPr>
          <a:xfrm>
            <a:off x="365750" y="274320"/>
            <a:ext cx="2376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 b="1" i="0" cap="none">
                <a:solidFill>
                  <a:srgbClr val="FFFFFF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sz="1800" b="1"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FFFFFF"/>
                </a:solidFill>
              </a:rPr>
              <a:t>2026</a:t>
            </a: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">
  <p:cSld name="Split Layou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6024563" y="257175"/>
            <a:ext cx="1488103" cy="1591866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4574381" y="2416970"/>
            <a:ext cx="3186406" cy="2726531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7184151" y="634350"/>
            <a:ext cx="1959849" cy="2806348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6491288" y="2753536"/>
            <a:ext cx="1576390" cy="1686306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marL="914400" lvl="1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marL="1371600" lvl="2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marL="1828800" lvl="3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marL="2286000" lvl="4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marL="2743200" lvl="5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marL="3200400" lvl="6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marL="3657600" lvl="7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marL="4114800" lvl="8" indent="-342900" algn="l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2">
            <a:alphaModFix/>
          </a:blip>
          <a:srcRect l="13585" b="9584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8067676" y="228601"/>
            <a:ext cx="1077917" cy="1543491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body" idx="2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">
  <p:cSld name="Data Cloud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1">
  <p:cSld name="Data Cloud_1_1">
    <p:bg>
      <p:bgPr>
        <a:solidFill>
          <a:schemeClr val="accen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37" name="Google Shape;137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5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4">
              <a:alphaModFix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4">
              <a:alphaModFix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15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title" idx="2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>
            <a:spLocks noGrp="1"/>
          </p:cNvSpPr>
          <p:nvPr>
            <p:ph type="title" idx="3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2">
  <p:cSld name="Data Cloud_1_1_3_2">
    <p:bg>
      <p:bgPr>
        <a:solidFill>
          <a:schemeClr val="accen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6"/>
          <p:cNvGrpSpPr/>
          <p:nvPr/>
        </p:nvGrpSpPr>
        <p:grpSpPr>
          <a:xfrm>
            <a:off x="-2" y="2914850"/>
            <a:ext cx="9143627" cy="2228425"/>
            <a:chOff x="-834856" y="2711517"/>
            <a:chExt cx="9978858" cy="2431981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2">
              <a:alphaModFix amt="85000"/>
            </a:blip>
            <a:srcRect l="45993" t="24707" b="30783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6"/>
            <p:cNvPicPr preferRelativeResize="0"/>
            <p:nvPr/>
          </p:nvPicPr>
          <p:blipFill rotWithShape="1">
            <a:blip r:embed="rId3">
              <a:alphaModFix amt="85000"/>
            </a:blip>
            <a:srcRect t="25271" r="1932" b="30786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16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3">
  <p:cSld name="Data Cloud_1_1_3_1">
    <p:bg>
      <p:bgPr>
        <a:solidFill>
          <a:schemeClr val="accent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2">
              <a:alphaModFix/>
            </a:blip>
            <a:srcRect l="37919" t="24706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7"/>
            <p:cNvPicPr preferRelativeResize="0"/>
            <p:nvPr/>
          </p:nvPicPr>
          <p:blipFill rotWithShape="1">
            <a:blip r:embed="rId3">
              <a:alphaModFix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17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4">
  <p:cSld name="Data Cloud_1_1_2">
    <p:bg>
      <p:bgPr>
        <a:solidFill>
          <a:schemeClr val="accen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/ Customer Logo">
  <p:cSld name="Data Cloud_1_1_1">
    <p:bg>
      <p:bgPr>
        <a:solidFill>
          <a:schemeClr val="accen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5" name="Google Shape;175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9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77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8" name="Google Shape;178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9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19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57309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19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097525" y="0"/>
            <a:ext cx="3046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1 (No Graphics)">
  <p:cSld name="Quote - Violet_1_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2">
  <p:cSld name="Quote - Violet_1_1_2_1">
    <p:bg>
      <p:bgPr>
        <a:solidFill>
          <a:schemeClr val="dk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 rotWithShape="1">
          <a:blip r:embed="rId2">
            <a:alphaModFix amt="27000"/>
          </a:blip>
          <a:srcRect l="21476"/>
          <a:stretch/>
        </p:blipFill>
        <p:spPr>
          <a:xfrm flipH="1">
            <a:off x="7048002" y="1780300"/>
            <a:ext cx="2095998" cy="29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l="20792" t="10992"/>
          <a:stretch/>
        </p:blipFill>
        <p:spPr>
          <a:xfrm>
            <a:off x="0" y="0"/>
            <a:ext cx="1320175" cy="161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3">
  <p:cSld name="Quote - Violet_1_1_2_1_1">
    <p:bg>
      <p:bgPr>
        <a:solidFill>
          <a:schemeClr val="dk2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2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99" name="Google Shape;199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2"/>
            <p:cNvPicPr preferRelativeResize="0"/>
            <p:nvPr/>
          </p:nvPicPr>
          <p:blipFill rotWithShape="1">
            <a:blip r:embed="rId3">
              <a:alphaModFix amt="72000"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4">
              <a:alphaModFix amt="72000"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22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4">
  <p:cSld name="Quote - Violet_1_1_2_1_1_1">
    <p:bg>
      <p:bgPr>
        <a:solidFill>
          <a:schemeClr val="dk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23"/>
          <p:cNvGrpSpPr/>
          <p:nvPr/>
        </p:nvGrpSpPr>
        <p:grpSpPr>
          <a:xfrm>
            <a:off x="4" y="1803975"/>
            <a:ext cx="9143996" cy="3339526"/>
            <a:chOff x="4" y="1803975"/>
            <a:chExt cx="9143996" cy="3339526"/>
          </a:xfrm>
        </p:grpSpPr>
        <p:pic>
          <p:nvPicPr>
            <p:cNvPr id="209" name="Google Shape;209;p23"/>
            <p:cNvPicPr preferRelativeResize="0"/>
            <p:nvPr/>
          </p:nvPicPr>
          <p:blipFill rotWithShape="1">
            <a:blip r:embed="rId2">
              <a:alphaModFix amt="57000"/>
            </a:blip>
            <a:srcRect l="32605" b="34254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3"/>
            <p:cNvPicPr preferRelativeResize="0"/>
            <p:nvPr/>
          </p:nvPicPr>
          <p:blipFill rotWithShape="1">
            <a:blip r:embed="rId3">
              <a:alphaModFix amt="57000"/>
            </a:blip>
            <a:srcRect r="17499" b="34258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3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5">
  <p:cSld name="Quote - Violet_1_1_2_1_1_1_1">
    <p:bg>
      <p:bgPr>
        <a:solidFill>
          <a:schemeClr val="dk2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 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24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216" name="Google Shape;216;p24"/>
            <p:cNvPicPr preferRelativeResize="0"/>
            <p:nvPr/>
          </p:nvPicPr>
          <p:blipFill rotWithShape="1">
            <a:blip r:embed="rId2">
              <a:alphaModFix amt="58000"/>
            </a:blip>
            <a:srcRect l="37919" t="24706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4"/>
            <p:cNvPicPr preferRelativeResize="0"/>
            <p:nvPr/>
          </p:nvPicPr>
          <p:blipFill rotWithShape="1">
            <a:blip r:embed="rId3">
              <a:alphaModFix amt="58000"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4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">
  <p:cSld name="Quote - Violet_1_1_1">
    <p:bg>
      <p:bgPr>
        <a:solidFill>
          <a:schemeClr val="dk2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body" idx="1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4" name="Google Shape;224;p25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25" name="Google Shape;225;p25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5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25"/>
          <p:cNvSpPr txBox="1">
            <a:spLocks noGrp="1"/>
          </p:cNvSpPr>
          <p:nvPr>
            <p:ph type="subTitle" idx="2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White">
  <p:cSld name="Quote - Violet_1_1_1_3">
    <p:bg>
      <p:bgPr>
        <a:solidFill>
          <a:schemeClr val="lt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body" idx="1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30" name="Google Shape;230;p26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31" name="Google Shape;231;p26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26"/>
          <p:cNvSpPr txBox="1">
            <a:spLocks noGrp="1"/>
          </p:cNvSpPr>
          <p:nvPr>
            <p:ph type="subTitle" idx="2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 b="1"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 w/ Photo">
  <p:cSld name="Quote - Violet_1_1_1_2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>
            <a:spLocks noGrp="1"/>
          </p:cNvSpPr>
          <p:nvPr>
            <p:ph type="body" idx="1"/>
          </p:nvPr>
        </p:nvSpPr>
        <p:spPr>
          <a:xfrm>
            <a:off x="365750" y="1331975"/>
            <a:ext cx="60765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2" name="Google Shape;242;p27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43" name="Google Shape;243;p27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27"/>
          <p:cNvSpPr txBox="1">
            <a:spLocks noGrp="1"/>
          </p:cNvSpPr>
          <p:nvPr>
            <p:ph type="subTitle" idx="2"/>
          </p:nvPr>
        </p:nvSpPr>
        <p:spPr>
          <a:xfrm>
            <a:off x="3017525" y="3999997"/>
            <a:ext cx="4206300" cy="68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CUSTOM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/>
          <p:nvPr/>
        </p:nvSpPr>
        <p:spPr>
          <a:xfrm>
            <a:off x="0" y="1120200"/>
            <a:ext cx="9144000" cy="40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8"/>
          <p:cNvSpPr txBox="1">
            <a:spLocks noGrp="1"/>
          </p:cNvSpPr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1">
  <p:cSld name="Thank You">
    <p:bg>
      <p:bgPr>
        <a:solidFill>
          <a:schemeClr val="accent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/>
          <p:nvPr/>
        </p:nvSpPr>
        <p:spPr>
          <a:xfrm>
            <a:off x="457200" y="4444162"/>
            <a:ext cx="1444930" cy="33045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2">
  <p:cSld name="Thank You_1">
    <p:bg>
      <p:bgPr>
        <a:solidFill>
          <a:schemeClr val="accen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/>
          <p:nvPr/>
        </p:nvSpPr>
        <p:spPr>
          <a:xfrm>
            <a:off x="457200" y="4444162"/>
            <a:ext cx="1444930" cy="33045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0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30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30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62" name="Google Shape;262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0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4">
              <a:alphaModFix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 1">
  <p:cSld name="1_Blank (footer only) 8">
    <p:bg>
      <p:bgPr>
        <a:solidFill>
          <a:schemeClr val="lt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6</a:t>
            </a:r>
            <a:r>
              <a:rPr lang="en"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 b="0" i="0" u="none" strike="noStrike" cap="non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800" b="1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>SNOWFLAKE GSLIDES THEME 2025.01</a:t>
            </a:r>
            <a:endParaRPr sz="800">
              <a:solidFill>
                <a:srgbClr val="C8C8C8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>동네 엑스레이</a:t>
            </a:r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0"/>
              <a:t>XR-AI  |  오용석 · 박성우 · 박재성</a:t>
            </a:r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/>
              <a:t>AI 기반 상권 분석 플랫폼  |  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latin typeface="Lato" panose="020F0502020204030203" pitchFamily="34" charset="0"/>
              </a:rPr>
              <a:t>INSTRUCTIONS: </a:t>
            </a:r>
            <a:endParaRPr dirty="0">
              <a:latin typeface="Lato" panose="020F0502020204030203" pitchFamily="34" charset="0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365750" y="1027750"/>
            <a:ext cx="8232900" cy="3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해커톤 발표를 위해 이 슬라이드를 기본 템플릿으로 사용해 주세요. </a:t>
            </a:r>
            <a:b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필요에 따라 자유롭게 수정하셔도 됩니다. 이 템플릿은 여러분의 솔루션을 체계적으로 전달할 수 있도록 구성되었습니다.</a:t>
            </a: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여러분의 인사이트가 어떤 비즈니스 문제를 데이터 기반으로 해결할 수 있는지, 그리고 제안하는 데이터 애플리케이션이 어떻게 비즈니스 임팩트를 만들어낼 수 있는지를 고민해 보고, 발표 시 이 점을 중심으로 설명해 주세요.</a:t>
            </a:r>
            <a:b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b="1" u="sng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참고: 승인된 데이터셋만 사용해야 합니다 (참가 약관 참조). 승인되지 않은 데이터셋을 사용하거나 출처를 명시하지 않은 경우, 심사 대상에서 제외될 수 있습니다.</a:t>
            </a:r>
            <a:br>
              <a:rPr lang="en" sz="1300" b="1" u="sng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300" b="1" u="sng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테크 트랙, 비즈니스 트랙을 참가하는 모든 팀은 이 템플릿을 기본으로 디벨롭해주시기 바랍니다.</a:t>
            </a: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REQUIREMENTS (필요 제출 사항): 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9" name="Google Shape;289;p35"/>
          <p:cNvSpPr txBox="1"/>
          <p:nvPr/>
        </p:nvSpPr>
        <p:spPr>
          <a:xfrm>
            <a:off x="365750" y="825575"/>
            <a:ext cx="8232900" cy="379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테크 트랙 제출 사항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(1) 과제 제출 Forms (추후 참가 신청자 대상으로 개별 전달)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(2) 과제 템플릿 제출 (현재 템플릿)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(3) 개발한 소스 코드의 zip파일을 링크로 제출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(4) 데모 녹화 영상 파일 (10분 이내) 다운로드 링크 제출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*코드, 예측 모델, application 사용 방법 설명 등이 포함되어야 합니다.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*솔루션 및 인사이트 / 향후 실행 방안 및 전략 등을 다루어야 하며 동영상은 총 10분을 초과하지 않아야 합니다.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트랙 제출 사항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(1) 과제 제출 Forms (추후 참가 신청자 대상으로 개별 전달)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(2) 과제 템플릿 제출 (현재 템플릿)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(3) 과제 소개 프레젠테이션 영상 (10분 이내) 다운로드 링크 제출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*솔루션 및 인사이트 / 향후 실행 방안 및 전략 등을 다루어야 하며 동영상은 총 10분을 초과하지 않아야 합니다.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결선 진출시 프레젠테이션을 위한 발표자료를 제작해야합니다. (발표 10분 + 질의응답 3분 내외로 진행됩니다.)</a:t>
            </a:r>
            <a:endParaRPr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과제 제출 기간 마감인 4월 12일 내에 버그 및 오류 수정으로 여러번 제출은 가능하며, 제출 기간 내에 가장 마지막에 제출한 제출물로 심사가 진행됩니다. (이전에 낸 제출물은 평가에 포함되지 않습니다.)</a:t>
            </a:r>
            <a:endParaRPr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/>
        </p:nvSpPr>
        <p:spPr>
          <a:xfrm>
            <a:off x="320026" y="4483424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6"/>
          <p:cNvSpPr/>
          <p:nvPr/>
        </p:nvSpPr>
        <p:spPr>
          <a:xfrm>
            <a:off x="234825" y="926651"/>
            <a:ext cx="1981800" cy="355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endParaRPr dirty="0"/>
          </a:p>
          <a:p>
            <a:r>
              <a:rPr sz="800" b="1" dirty="0">
                <a:solidFill>
                  <a:srgbClr val="29B5E8"/>
                </a:solidFill>
              </a:rPr>
              <a:t>❶ </a:t>
            </a:r>
            <a:r>
              <a:rPr sz="800" b="1" dirty="0" err="1">
                <a:solidFill>
                  <a:srgbClr val="29B5E8"/>
                </a:solidFill>
              </a:rPr>
              <a:t>감에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의존하는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출점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의사결정</a:t>
            </a:r>
            <a:endParaRPr sz="800" b="1" dirty="0">
              <a:solidFill>
                <a:srgbClr val="29B5E8"/>
              </a:solidFill>
            </a:endParaRPr>
          </a:p>
          <a:p>
            <a:r>
              <a:rPr sz="750" b="0" dirty="0" err="1">
                <a:solidFill/>
              </a:rPr>
              <a:t>소상공인·프랜차이즈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담당자가</a:t>
            </a:r>
            <a:endParaRPr sz="750" b="0" dirty="0">
              <a:solidFill/>
            </a:endParaRPr>
          </a:p>
          <a:p>
            <a:r>
              <a:rPr sz="750" b="0" dirty="0" err="1">
                <a:solidFill/>
              </a:rPr>
              <a:t>데이터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없이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감으로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입지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선정</a:t>
            </a:r>
            <a:br>
              <a:rPr lang="en-US" sz="750" b="0" dirty="0">
                <a:solidFill/>
              </a:rPr>
            </a:br>
            <a:endParaRPr sz="750" b="0" dirty="0">
              <a:solidFill/>
            </a:endParaRPr>
          </a:p>
          <a:p>
            <a:r>
              <a:rPr sz="800" b="1" dirty="0">
                <a:solidFill>
                  <a:srgbClr val="29B5E8"/>
                </a:solidFill>
              </a:rPr>
              <a:t>❷ </a:t>
            </a:r>
            <a:r>
              <a:rPr sz="800" b="1" dirty="0" err="1">
                <a:solidFill>
                  <a:srgbClr val="29B5E8"/>
                </a:solidFill>
              </a:rPr>
              <a:t>실시간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트렌드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반영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불가</a:t>
            </a:r>
            <a:endParaRPr sz="800" b="1" dirty="0">
              <a:solidFill>
                <a:srgbClr val="29B5E8"/>
              </a:solidFill>
            </a:endParaRPr>
          </a:p>
          <a:p>
            <a:r>
              <a:rPr sz="750" b="0" dirty="0" err="1">
                <a:solidFill/>
              </a:rPr>
              <a:t>기존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서비스는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정적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과거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데이터만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제공</a:t>
            </a:r>
            <a:endParaRPr sz="750" b="0" dirty="0">
              <a:solidFill/>
            </a:endParaRPr>
          </a:p>
          <a:p>
            <a:r>
              <a:rPr sz="750" b="0" dirty="0" err="1">
                <a:solidFill/>
              </a:rPr>
              <a:t>상권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변화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시그널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포착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불가</a:t>
            </a:r>
            <a:br>
              <a:rPr lang="en-US" sz="750" b="0" dirty="0">
                <a:solidFill/>
              </a:rPr>
            </a:br>
            <a:endParaRPr sz="750" b="0" dirty="0">
              <a:solidFill/>
            </a:endParaRPr>
          </a:p>
          <a:p>
            <a:r>
              <a:rPr sz="800" b="1" dirty="0">
                <a:solidFill>
                  <a:srgbClr val="29B5E8"/>
                </a:solidFill>
              </a:rPr>
              <a:t>❸ </a:t>
            </a:r>
            <a:r>
              <a:rPr sz="800" b="1" dirty="0" err="1">
                <a:solidFill>
                  <a:srgbClr val="29B5E8"/>
                </a:solidFill>
              </a:rPr>
              <a:t>통합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분석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도구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부재</a:t>
            </a:r>
            <a:endParaRPr sz="800" b="1" dirty="0">
              <a:solidFill>
                <a:srgbClr val="29B5E8"/>
              </a:solidFill>
            </a:endParaRPr>
          </a:p>
          <a:p>
            <a:r>
              <a:rPr sz="750" b="0" dirty="0" err="1">
                <a:solidFill/>
              </a:rPr>
              <a:t>유동인구·매출·부동산·통신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데이터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산재</a:t>
            </a:r>
            <a:endParaRPr sz="750" b="0" dirty="0">
              <a:solidFill/>
            </a:endParaRPr>
          </a:p>
          <a:p>
            <a:r>
              <a:rPr sz="750" b="0" dirty="0" err="1">
                <a:solidFill/>
              </a:rPr>
              <a:t>교차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분석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도구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없음</a:t>
            </a:r>
            <a:endParaRPr sz="750" b="0" dirty="0">
              <a:solidFill/>
            </a:endParaRPr>
          </a:p>
        </p:txBody>
      </p:sp>
      <p:sp>
        <p:nvSpPr>
          <p:cNvPr id="297" name="Google Shape;297;p36"/>
          <p:cNvSpPr txBox="1"/>
          <p:nvPr/>
        </p:nvSpPr>
        <p:spPr>
          <a:xfrm>
            <a:off x="234050" y="526450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2571210" y="4483424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2486785" y="926651"/>
            <a:ext cx="1981800" cy="355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endParaRPr dirty="0"/>
          </a:p>
          <a:p>
            <a:r>
              <a:rPr sz="800" b="1" dirty="0" err="1">
                <a:solidFill>
                  <a:srgbClr val="29B5E8"/>
                </a:solidFill>
              </a:rPr>
              <a:t>핵심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가설</a:t>
            </a:r>
            <a:endParaRPr sz="800" b="1" dirty="0">
              <a:solidFill>
                <a:srgbClr val="29B5E8"/>
              </a:solidFill>
            </a:endParaRPr>
          </a:p>
          <a:p>
            <a:r>
              <a:rPr sz="750" b="0" dirty="0" err="1">
                <a:solidFill/>
              </a:rPr>
              <a:t>유동인구·매출·부동산·통신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데이터의</a:t>
            </a:r>
            <a:endParaRPr sz="750" b="0" dirty="0">
              <a:solidFill/>
            </a:endParaRPr>
          </a:p>
          <a:p>
            <a:r>
              <a:rPr sz="750" b="0" dirty="0" err="1">
                <a:solidFill/>
              </a:rPr>
              <a:t>교차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분석으로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상권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변화의</a:t>
            </a:r>
            <a:endParaRPr sz="750" b="0" dirty="0">
              <a:solidFill/>
            </a:endParaRPr>
          </a:p>
          <a:p>
            <a:r>
              <a:rPr sz="800" b="1" dirty="0" err="1">
                <a:solidFill/>
              </a:rPr>
              <a:t>선행</a:t>
            </a:r>
            <a:r>
              <a:rPr sz="800" b="1" dirty="0">
                <a:solidFill/>
              </a:rPr>
              <a:t> </a:t>
            </a:r>
            <a:r>
              <a:rPr sz="800" b="1" dirty="0" err="1">
                <a:solidFill/>
              </a:rPr>
              <a:t>시그널을</a:t>
            </a:r>
            <a:r>
              <a:rPr sz="800" b="1" dirty="0">
                <a:solidFill/>
              </a:rPr>
              <a:t> </a:t>
            </a:r>
            <a:r>
              <a:rPr sz="800" b="1" dirty="0" err="1">
                <a:solidFill/>
              </a:rPr>
              <a:t>포착할</a:t>
            </a:r>
            <a:r>
              <a:rPr sz="800" b="1" dirty="0">
                <a:solidFill/>
              </a:rPr>
              <a:t> 수 </a:t>
            </a:r>
            <a:r>
              <a:rPr sz="800" b="1" dirty="0" err="1">
                <a:solidFill/>
              </a:rPr>
              <a:t>있다</a:t>
            </a:r>
            <a:br>
              <a:rPr lang="en-US" sz="800" b="1" dirty="0">
                <a:solidFill/>
              </a:rPr>
            </a:br>
            <a:endParaRPr sz="800" b="1" dirty="0">
              <a:solidFill/>
            </a:endParaRPr>
          </a:p>
          <a:p>
            <a:r>
              <a:rPr sz="800" b="1" dirty="0" err="1">
                <a:solidFill>
                  <a:srgbClr val="29B5E8"/>
                </a:solidFill>
              </a:rPr>
              <a:t>핫플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점수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가중치</a:t>
            </a:r>
            <a:endParaRPr sz="800" b="1" dirty="0">
              <a:solidFill>
                <a:srgbClr val="29B5E8"/>
              </a:solidFill>
            </a:endParaRPr>
          </a:p>
          <a:p>
            <a:r>
              <a:rPr sz="750" b="0" dirty="0">
                <a:solidFill/>
              </a:rPr>
              <a:t>▸ </a:t>
            </a:r>
            <a:r>
              <a:rPr sz="750" b="0" dirty="0" err="1">
                <a:solidFill/>
              </a:rPr>
              <a:t>방문인구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변동률</a:t>
            </a:r>
            <a:r>
              <a:rPr sz="750" b="0" dirty="0">
                <a:solidFill/>
              </a:rPr>
              <a:t>  25%</a:t>
            </a:r>
          </a:p>
          <a:p>
            <a:r>
              <a:rPr sz="750" b="0" dirty="0">
                <a:solidFill/>
              </a:rPr>
              <a:t>▸ </a:t>
            </a:r>
            <a:r>
              <a:rPr sz="750" b="0" dirty="0" err="1">
                <a:solidFill/>
              </a:rPr>
              <a:t>카페·식음료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매출</a:t>
            </a:r>
            <a:r>
              <a:rPr sz="750" b="0" dirty="0">
                <a:solidFill/>
              </a:rPr>
              <a:t>  20%</a:t>
            </a:r>
          </a:p>
          <a:p>
            <a:r>
              <a:rPr sz="750" b="0" dirty="0">
                <a:solidFill/>
              </a:rPr>
              <a:t>▸ 총 </a:t>
            </a:r>
            <a:r>
              <a:rPr sz="750" b="0" dirty="0" err="1">
                <a:solidFill/>
              </a:rPr>
              <a:t>유동인구</a:t>
            </a:r>
            <a:r>
              <a:rPr sz="750" b="0" dirty="0">
                <a:solidFill/>
              </a:rPr>
              <a:t>  20%</a:t>
            </a:r>
          </a:p>
          <a:p>
            <a:r>
              <a:rPr sz="750" b="0" dirty="0">
                <a:solidFill/>
              </a:rPr>
              <a:t>▸ </a:t>
            </a:r>
            <a:r>
              <a:rPr sz="750" b="0" dirty="0" err="1">
                <a:solidFill/>
              </a:rPr>
              <a:t>매매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평단가</a:t>
            </a:r>
            <a:r>
              <a:rPr sz="750" b="0" dirty="0">
                <a:solidFill/>
              </a:rPr>
              <a:t>  20%</a:t>
            </a:r>
          </a:p>
          <a:p>
            <a:r>
              <a:rPr sz="750" b="0" dirty="0">
                <a:solidFill/>
              </a:rPr>
              <a:t>▸ </a:t>
            </a:r>
            <a:r>
              <a:rPr sz="750" b="0" dirty="0" err="1">
                <a:solidFill/>
              </a:rPr>
              <a:t>인터넷</a:t>
            </a:r>
            <a:r>
              <a:rPr sz="750" b="0" dirty="0">
                <a:solidFill/>
              </a:rPr>
              <a:t> </a:t>
            </a:r>
            <a:r>
              <a:rPr sz="750" b="0" dirty="0" err="1">
                <a:solidFill/>
              </a:rPr>
              <a:t>신규설치</a:t>
            </a:r>
            <a:r>
              <a:rPr sz="750" b="0" dirty="0">
                <a:solidFill/>
              </a:rPr>
              <a:t>  15%</a:t>
            </a:r>
            <a:br>
              <a:rPr lang="en-US" sz="750" b="0" dirty="0">
                <a:solidFill/>
              </a:rPr>
            </a:br>
            <a:endParaRPr sz="750" b="0" dirty="0">
              <a:solidFill/>
            </a:endParaRPr>
          </a:p>
          <a:p>
            <a:r>
              <a:rPr sz="800" b="1" dirty="0" err="1">
                <a:solidFill>
                  <a:srgbClr val="29B5E8"/>
                </a:solidFill>
              </a:rPr>
              <a:t>데이터</a:t>
            </a:r>
            <a:r>
              <a:rPr sz="800" b="1" dirty="0">
                <a:solidFill>
                  <a:srgbClr val="29B5E8"/>
                </a:solidFill>
              </a:rPr>
              <a:t> </a:t>
            </a:r>
            <a:r>
              <a:rPr sz="800" b="1" dirty="0" err="1">
                <a:solidFill>
                  <a:srgbClr val="29B5E8"/>
                </a:solidFill>
              </a:rPr>
              <a:t>규모</a:t>
            </a:r>
            <a:endParaRPr sz="800" b="1" dirty="0">
              <a:solidFill>
                <a:srgbClr val="29B5E8"/>
              </a:solidFill>
            </a:endParaRPr>
          </a:p>
          <a:p>
            <a:r>
              <a:rPr sz="750" b="0" dirty="0">
                <a:solidFill/>
              </a:rPr>
              <a:t>3개 구 · 118개 </a:t>
            </a:r>
            <a:r>
              <a:rPr sz="750" b="0" dirty="0" err="1">
                <a:solidFill/>
              </a:rPr>
              <a:t>법정동</a:t>
            </a:r>
            <a:r>
              <a:rPr sz="750" b="0" dirty="0">
                <a:solidFill/>
              </a:rPr>
              <a:t> × 59개월</a:t>
            </a:r>
          </a:p>
          <a:p>
            <a:r>
              <a:rPr sz="800" b="1" dirty="0">
                <a:solidFill>
                  <a:srgbClr val="29B5E8"/>
                </a:solidFill>
              </a:rPr>
              <a:t>= 6,962건의 </a:t>
            </a:r>
            <a:r>
              <a:rPr sz="800" b="1" dirty="0" err="1">
                <a:solidFill>
                  <a:srgbClr val="29B5E8"/>
                </a:solidFill>
              </a:rPr>
              <a:t>시그널</a:t>
            </a:r>
            <a:endParaRPr sz="800" b="1" dirty="0">
              <a:solidFill>
                <a:srgbClr val="29B5E8"/>
              </a:solidFill>
            </a:endParaRPr>
          </a:p>
        </p:txBody>
      </p:sp>
      <p:sp>
        <p:nvSpPr>
          <p:cNvPr id="301" name="Google Shape;301;p36"/>
          <p:cNvSpPr txBox="1"/>
          <p:nvPr/>
        </p:nvSpPr>
        <p:spPr>
          <a:xfrm>
            <a:off x="2486010" y="526450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2" name="Google Shape;302;p36"/>
          <p:cNvSpPr txBox="1"/>
          <p:nvPr/>
        </p:nvSpPr>
        <p:spPr>
          <a:xfrm>
            <a:off x="4791747" y="4481995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4706546" y="925221"/>
            <a:ext cx="1981800" cy="355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262626"/>
              </a:solidFill>
              <a:latin typeface="Lato" panose="020F0502020204030203" pitchFamily="34" charset="0"/>
              <a:ea typeface="Noto Sans KR"/>
              <a:cs typeface="Noto Sans KR"/>
              <a:sym typeface="Noto Sans KR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4705771" y="525021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7042932" y="4481995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6958506" y="925221"/>
            <a:ext cx="1981800" cy="355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262626"/>
              </a:solidFill>
              <a:latin typeface="Lato" panose="020F0502020204030203" pitchFamily="34" charset="0"/>
              <a:ea typeface="Noto Sans KR"/>
              <a:cs typeface="Noto Sans KR"/>
              <a:sym typeface="Noto Sans KR"/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6957731" y="525021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0" name="Rounded Rectangle 309"/>
          <p:cNvSpPr/>
          <p:nvPr/>
        </p:nvSpPr>
        <p:spPr>
          <a:xfrm>
            <a:off x="251999" y="503999"/>
            <a:ext cx="1800000" cy="288000"/>
          </a:xfrm>
          <a:prstGeom prst="roundRect">
            <a:avLst>
              <a:gd name="adj" fmla="val 30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문제 정의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2484000" y="503999"/>
            <a:ext cx="1800000" cy="288000"/>
          </a:xfrm>
          <a:prstGeom prst="roundRect">
            <a:avLst>
              <a:gd name="adj" fmla="val 30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가설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4716000" y="503999"/>
            <a:ext cx="1800000" cy="288000"/>
          </a:xfrm>
          <a:prstGeom prst="roundRect">
            <a:avLst>
              <a:gd name="adj" fmla="val 30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아키텍처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6948000" y="503999"/>
            <a:ext cx="1800000" cy="288000"/>
          </a:xfrm>
          <a:prstGeom prst="roundRect">
            <a:avLst>
              <a:gd name="adj" fmla="val 30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4788000" y="1007999"/>
            <a:ext cx="1800000" cy="540000"/>
          </a:xfrm>
          <a:prstGeom prst="roundRect">
            <a:avLst/>
          </a:prstGeom>
          <a:solidFill>
            <a:srgbClr val="29B5E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Snowflake Marketplace</a:t>
            </a:r>
          </a:p>
          <a:p>
            <a:pPr algn="ctr"/>
            <a:r>
              <a:rPr sz="600">
                <a:solidFill>
                  <a:srgbClr val="DDDDDD"/>
                </a:solidFill>
              </a:rPr>
              <a:t>SPH · 리치고 · 아정당 (5개)</a:t>
            </a:r>
          </a:p>
        </p:txBody>
      </p:sp>
      <p:sp>
        <p:nvSpPr>
          <p:cNvPr id="315" name="Down Arrow 314"/>
          <p:cNvSpPr/>
          <p:nvPr/>
        </p:nvSpPr>
        <p:spPr>
          <a:xfrm>
            <a:off x="5598000" y="1583999"/>
            <a:ext cx="180000" cy="18000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Rounded Rectangle 315"/>
          <p:cNvSpPr/>
          <p:nvPr/>
        </p:nvSpPr>
        <p:spPr>
          <a:xfrm>
            <a:off x="4788000" y="1799999"/>
            <a:ext cx="1800000" cy="54000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333333"/>
                </a:solidFill>
              </a:rPr>
              <a:t>Snowflake SQL</a:t>
            </a:r>
          </a:p>
          <a:p>
            <a:pPr algn="ctr"/>
            <a:r>
              <a:rPr sz="600">
                <a:solidFill>
                  <a:srgbClr val="666666"/>
                </a:solidFill>
              </a:rPr>
              <a:t>전처리 + 핫플 점수 실시간 계산</a:t>
            </a:r>
          </a:p>
        </p:txBody>
      </p:sp>
      <p:sp>
        <p:nvSpPr>
          <p:cNvPr id="317" name="Down Arrow 316"/>
          <p:cNvSpPr/>
          <p:nvPr/>
        </p:nvSpPr>
        <p:spPr>
          <a:xfrm>
            <a:off x="5598000" y="2375999"/>
            <a:ext cx="180000" cy="18000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Rounded Rectangle 317"/>
          <p:cNvSpPr/>
          <p:nvPr/>
        </p:nvSpPr>
        <p:spPr>
          <a:xfrm>
            <a:off x="4788000" y="2591999"/>
            <a:ext cx="1800000" cy="54000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333333"/>
                </a:solidFill>
              </a:rPr>
              <a:t>Cortex AI (GPT-5.4)</a:t>
            </a:r>
          </a:p>
          <a:p>
            <a:pPr algn="ctr"/>
            <a:r>
              <a:rPr sz="600">
                <a:solidFill>
                  <a:srgbClr val="666666"/>
                </a:solidFill>
              </a:rPr>
              <a:t>자연어 → SQL → 인사이트</a:t>
            </a:r>
          </a:p>
        </p:txBody>
      </p:sp>
      <p:sp>
        <p:nvSpPr>
          <p:cNvPr id="319" name="Down Arrow 318"/>
          <p:cNvSpPr/>
          <p:nvPr/>
        </p:nvSpPr>
        <p:spPr>
          <a:xfrm>
            <a:off x="5598000" y="3167999"/>
            <a:ext cx="180000" cy="180000"/>
          </a:xfrm>
          <a:prstGeom prst="downArrow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ounded Rectangle 319"/>
          <p:cNvSpPr/>
          <p:nvPr/>
        </p:nvSpPr>
        <p:spPr>
          <a:xfrm>
            <a:off x="4788000" y="3383999"/>
            <a:ext cx="1800000" cy="540000"/>
          </a:xfrm>
          <a:prstGeom prst="roundRect">
            <a:avLst/>
          </a:prstGeom>
          <a:solidFill>
            <a:srgbClr val="29B5E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Streamlit in Snowflake</a:t>
            </a:r>
          </a:p>
          <a:p>
            <a:pPr algn="ctr"/>
            <a:r>
              <a:rPr sz="600">
                <a:solidFill>
                  <a:srgbClr val="DDDDDD"/>
                </a:solidFill>
              </a:rPr>
              <a:t>피드 / AI에이전트 / 디지털트윈</a:t>
            </a:r>
          </a:p>
        </p:txBody>
      </p:sp>
      <p:sp>
        <p:nvSpPr>
          <p:cNvPr id="321" name="Oval 320"/>
          <p:cNvSpPr/>
          <p:nvPr/>
        </p:nvSpPr>
        <p:spPr>
          <a:xfrm>
            <a:off x="7020000" y="1134000"/>
            <a:ext cx="180000" cy="1800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321"/>
          <p:cNvSpPr txBox="1"/>
          <p:nvPr/>
        </p:nvSpPr>
        <p:spPr>
          <a:xfrm>
            <a:off x="7271999" y="1080000"/>
            <a:ext cx="154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 b="1">
                <a:solidFill/>
              </a:rPr>
              <a:t>Snowflake Marketplace</a:t>
            </a:r>
          </a:p>
        </p:txBody>
      </p:sp>
      <p:sp>
        <p:nvSpPr>
          <p:cNvPr id="323" name="Oval 322"/>
          <p:cNvSpPr/>
          <p:nvPr/>
        </p:nvSpPr>
        <p:spPr>
          <a:xfrm>
            <a:off x="7020000" y="1566000"/>
            <a:ext cx="180000" cy="1800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323"/>
          <p:cNvSpPr txBox="1"/>
          <p:nvPr/>
        </p:nvSpPr>
        <p:spPr>
          <a:xfrm>
            <a:off x="7271999" y="1512000"/>
            <a:ext cx="154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 b="1">
                <a:solidFill/>
              </a:rPr>
              <a:t>Cortex AI (GPT-5.4)</a:t>
            </a:r>
          </a:p>
        </p:txBody>
      </p:sp>
      <p:pic>
        <p:nvPicPr>
          <p:cNvPr id="325" name="Picture 324" descr="stream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00" y="1944000"/>
            <a:ext cx="288000" cy="288000"/>
          </a:xfrm>
          <a:prstGeom prst="rect">
            <a:avLst/>
          </a:prstGeom>
        </p:spPr>
      </p:pic>
      <p:sp>
        <p:nvSpPr>
          <p:cNvPr id="326" name="TextBox 325"/>
          <p:cNvSpPr txBox="1"/>
          <p:nvPr/>
        </p:nvSpPr>
        <p:spPr>
          <a:xfrm>
            <a:off x="7380000" y="1944000"/>
            <a:ext cx="1440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 b="1">
                <a:solidFill/>
              </a:rPr>
              <a:t>Streamlit</a:t>
            </a:r>
          </a:p>
        </p:txBody>
      </p:sp>
      <p:pic>
        <p:nvPicPr>
          <p:cNvPr id="327" name="Picture 326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000" y="2376000"/>
            <a:ext cx="288000" cy="288000"/>
          </a:xfrm>
          <a:prstGeom prst="rect">
            <a:avLst/>
          </a:prstGeom>
        </p:spPr>
      </p:pic>
      <p:sp>
        <p:nvSpPr>
          <p:cNvPr id="328" name="TextBox 327"/>
          <p:cNvSpPr txBox="1"/>
          <p:nvPr/>
        </p:nvSpPr>
        <p:spPr>
          <a:xfrm>
            <a:off x="7380000" y="2376000"/>
            <a:ext cx="1440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 b="1">
                <a:solidFill/>
              </a:rPr>
              <a:t>Python 3.11</a:t>
            </a:r>
          </a:p>
        </p:txBody>
      </p:sp>
      <p:sp>
        <p:nvSpPr>
          <p:cNvPr id="329" name="Oval 328"/>
          <p:cNvSpPr/>
          <p:nvPr/>
        </p:nvSpPr>
        <p:spPr>
          <a:xfrm>
            <a:off x="7020000" y="2862000"/>
            <a:ext cx="180000" cy="1800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TextBox 329"/>
          <p:cNvSpPr txBox="1"/>
          <p:nvPr/>
        </p:nvSpPr>
        <p:spPr>
          <a:xfrm>
            <a:off x="7271999" y="2808000"/>
            <a:ext cx="154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 b="1">
                <a:solidFill/>
              </a:rPr>
              <a:t>PyDeck 3D / Plotly</a:t>
            </a:r>
          </a:p>
        </p:txBody>
      </p:sp>
      <p:sp>
        <p:nvSpPr>
          <p:cNvPr id="331" name="Rounded Rectangle 330"/>
          <p:cNvSpPr/>
          <p:nvPr/>
        </p:nvSpPr>
        <p:spPr>
          <a:xfrm>
            <a:off x="7020000" y="3348000"/>
            <a:ext cx="1620000" cy="251999"/>
          </a:xfrm>
          <a:prstGeom prst="roundRect">
            <a:avLst>
              <a:gd name="adj" fmla="val 30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100% Snowflake Native</a:t>
            </a:r>
          </a:p>
        </p:txBody>
      </p:sp>
      <p:pic>
        <p:nvPicPr>
          <p:cNvPr id="332" name="Picture 331" descr="cortex_sparkle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531000"/>
            <a:ext cx="250000" cy="2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/>
        </p:nvSpPr>
        <p:spPr>
          <a:xfrm>
            <a:off x="363048" y="2108950"/>
            <a:ext cx="81807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234825" y="926650"/>
            <a:ext cx="8488200" cy="1182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r>
              <a:rPr sz="800" b="0"/>
              <a:t>5개 선행지표(방문인구 25% · 카페매출 20% · 유동인구 20% · 매매가 20% · 신규설치 15%) 가중합 → 핫플 점수 산출</a:t>
            </a:r>
          </a:p>
          <a:p>
            <a:r>
              <a:rPr sz="800" b="0"/>
              <a:t>월별 상위/하위 동네를 자동 탐지, 변동 원인을 수치(유동인구 -5.3%, 카드매출 +92.8%)와 함께 자동 분석</a:t>
            </a:r>
          </a:p>
          <a:p>
            <a:r>
              <a:rPr sz="800" b="0"/>
              <a:t>3개월 예측 시그널(방문인구 변화율 × 60% + 카드매출 변화율 × 40%)로 상승/하락/관찰 동네 분류</a:t>
            </a:r>
          </a:p>
        </p:txBody>
      </p:sp>
      <p:sp>
        <p:nvSpPr>
          <p:cNvPr id="318" name="Google Shape;318;p37"/>
          <p:cNvSpPr txBox="1"/>
          <p:nvPr/>
        </p:nvSpPr>
        <p:spPr>
          <a:xfrm>
            <a:off x="234049" y="71750"/>
            <a:ext cx="6455347" cy="65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sz="1800" b="1"/>
              <a:t>인사이트 피드 — 다음에 뜰 동네 예측</a:t>
            </a:r>
          </a:p>
        </p:txBody>
      </p:sp>
      <p:sp>
        <p:nvSpPr>
          <p:cNvPr id="319" name="Google Shape;319;p37"/>
          <p:cNvSpPr txBox="1"/>
          <p:nvPr/>
        </p:nvSpPr>
        <p:spPr>
          <a:xfrm>
            <a:off x="4854874" y="4657500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7"/>
          <p:cNvSpPr/>
          <p:nvPr/>
        </p:nvSpPr>
        <p:spPr>
          <a:xfrm>
            <a:off x="4796100" y="2647075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r>
              <a:rPr sz="800" b="1"/>
              <a:t>Phase 1: 데이터 확장</a:t>
            </a:r>
          </a:p>
          <a:p>
            <a:r>
              <a:rPr sz="700" b="0"/>
              <a:t>서울 3개 구 → 수도권 → 전국 35,000개+ 법정동</a:t>
            </a:r>
          </a:p>
          <a:p>
            <a:r>
              <a:rPr sz="800" b="1"/>
              <a:t>Phase 2: 예측 모델 고도화</a:t>
            </a:r>
          </a:p>
          <a:p>
            <a:r>
              <a:rPr sz="700" b="0"/>
              <a:t>전월대비 변동률 → Snowpark ML 시계열 예측</a:t>
            </a:r>
          </a:p>
          <a:p>
            <a:r>
              <a:rPr sz="800" b="1"/>
              <a:t>Phase 3: 실시간 데이터 연동</a:t>
            </a:r>
          </a:p>
          <a:p>
            <a:r>
              <a:rPr sz="700" b="0"/>
              <a:t>배달앱·SNS 주문량/언급량 추가</a:t>
            </a:r>
          </a:p>
          <a:p>
            <a:r>
              <a:rPr sz="700" b="0"/>
              <a:t>실시간 상권 트렌드 반영</a:t>
            </a:r>
          </a:p>
        </p:txBody>
      </p:sp>
      <p:sp>
        <p:nvSpPr>
          <p:cNvPr id="323" name="Google Shape;323;p37"/>
          <p:cNvSpPr txBox="1"/>
          <p:nvPr/>
        </p:nvSpPr>
        <p:spPr>
          <a:xfrm>
            <a:off x="380642" y="4657513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7"/>
          <p:cNvSpPr/>
          <p:nvPr/>
        </p:nvSpPr>
        <p:spPr>
          <a:xfrm>
            <a:off x="321868" y="2647088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r>
              <a:rPr sz="800" b="1"/>
              <a:t>데이터 기반 입지 판단</a:t>
            </a:r>
          </a:p>
          <a:p>
            <a:r>
              <a:rPr sz="700" b="0"/>
              <a:t>"어디에 가게를 열까"를 객관적 수치로 판단</a:t>
            </a:r>
          </a:p>
          <a:p>
            <a:r>
              <a:rPr sz="800" b="1"/>
              <a:t>상권 변화 조기 포착</a:t>
            </a:r>
          </a:p>
          <a:p>
            <a:r>
              <a:rPr sz="700" b="0"/>
              <a:t>월별 시그널 추적으로 성장/쇠퇴 6~12개월 전 감지</a:t>
            </a:r>
          </a:p>
          <a:p>
            <a:r>
              <a:rPr sz="800" b="1"/>
              <a:t>선행 전입 수요 시그널</a:t>
            </a:r>
          </a:p>
          <a:p>
            <a:r>
              <a:rPr sz="700" b="0"/>
              <a:t>통신사 신규설치 데이터로 전입 수요 포착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234825" y="556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핵심 분석 인사이트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234825" y="2300000"/>
            <a:ext cx="144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기대 효과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4706000" y="2300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향후 실행 방안 제안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"/>
          <p:cNvSpPr txBox="1"/>
          <p:nvPr/>
        </p:nvSpPr>
        <p:spPr>
          <a:xfrm>
            <a:off x="363048" y="2108950"/>
            <a:ext cx="81807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234825" y="926650"/>
            <a:ext cx="8488200" cy="1182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r>
              <a:rPr sz="800" b="0"/>
              <a:t>Cortex AI(GPT-5.4)로 자연어 질문 → 의도 분류(11가지) → SQL 자동 생성 → Snowflake 직접 실행 → 즉시 답변</a:t>
            </a:r>
          </a:p>
          <a:p>
            <a:r>
              <a:rPr sz="800" b="0"/>
              <a:t>출점 시뮬레이션·동네 비교·미래 예측·마케팅 ROI 등 복합 분석을 단일 채팅 인터페이스에서 처리</a:t>
            </a:r>
          </a:p>
          <a:p>
            <a:r>
              <a:rPr sz="800" b="0"/>
              <a:t>대화 히스토리 기반 후속 질문 지원 — "그 동네 부동산 추이도 알려줘" 등 연속 분석 가능</a:t>
            </a:r>
          </a:p>
        </p:txBody>
      </p:sp>
      <p:sp>
        <p:nvSpPr>
          <p:cNvPr id="335" name="Google Shape;335;p38"/>
          <p:cNvSpPr txBox="1"/>
          <p:nvPr/>
        </p:nvSpPr>
        <p:spPr>
          <a:xfrm>
            <a:off x="234050" y="71750"/>
            <a:ext cx="5609700" cy="65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sz="1800" b="1"/>
              <a:t>AI 에이전트 — 자연어로 상권 분석</a:t>
            </a:r>
          </a:p>
        </p:txBody>
      </p:sp>
      <p:sp>
        <p:nvSpPr>
          <p:cNvPr id="336" name="Google Shape;336;p38"/>
          <p:cNvSpPr txBox="1"/>
          <p:nvPr/>
        </p:nvSpPr>
        <p:spPr>
          <a:xfrm>
            <a:off x="4854874" y="4657500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4796100" y="2647075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r>
              <a:rPr sz="800" b="1"/>
              <a:t>출점 시뮬레이션 강화</a:t>
            </a:r>
          </a:p>
          <a:p>
            <a:r>
              <a:rPr sz="700" b="0"/>
              <a:t>"카페 열면 예상 월매출은?" 가상 시나리오</a:t>
            </a:r>
          </a:p>
          <a:p>
            <a:r>
              <a:rPr sz="700" b="0"/>
              <a:t>업종별 capture rate·객단가 기반 매출 예측</a:t>
            </a:r>
          </a:p>
          <a:p>
            <a:r>
              <a:rPr sz="800" b="1"/>
              <a:t>멀티모달 출력 강화</a:t>
            </a:r>
          </a:p>
          <a:p>
            <a:r>
              <a:rPr sz="700" b="0"/>
              <a:t>차트·지도·비교 테이블 자동 생성</a:t>
            </a:r>
          </a:p>
          <a:p>
            <a:r>
              <a:rPr sz="700" b="0"/>
              <a:t>Streamlit 위젯과 인터랙티브 연동</a:t>
            </a:r>
          </a:p>
          <a:p>
            <a:r>
              <a:rPr sz="800" b="1"/>
              <a:t>B2B 서비스화</a:t>
            </a:r>
          </a:p>
          <a:p>
            <a:r>
              <a:rPr sz="700" b="0"/>
              <a:t>프랜차이즈 출점 후보지 자동 추천 API</a:t>
            </a:r>
          </a:p>
        </p:txBody>
      </p:sp>
      <p:sp>
        <p:nvSpPr>
          <p:cNvPr id="340" name="Google Shape;340;p38"/>
          <p:cNvSpPr txBox="1"/>
          <p:nvPr/>
        </p:nvSpPr>
        <p:spPr>
          <a:xfrm>
            <a:off x="380642" y="4657513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321868" y="2647088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r>
              <a:rPr sz="800" b="1"/>
              <a:t>데이터 분석 민주화</a:t>
            </a:r>
          </a:p>
          <a:p>
            <a:r>
              <a:rPr sz="700" b="0"/>
              <a:t>SQL 없이 자연어로 누구나 상권 데이터 분석</a:t>
            </a:r>
          </a:p>
          <a:p>
            <a:r>
              <a:rPr sz="800" b="1"/>
              <a:t>의사결정 속도 99% 단축</a:t>
            </a:r>
          </a:p>
          <a:p>
            <a:r>
              <a:rPr sz="700" b="0"/>
              <a:t>기존 수 시간~수 일 → AI 에이전트: 수 초</a:t>
            </a:r>
          </a:p>
          <a:p>
            <a:r>
              <a:rPr sz="800" b="1"/>
              <a:t>11가지 의도 자동 분류</a:t>
            </a:r>
          </a:p>
          <a:p>
            <a:r>
              <a:rPr sz="700" b="0"/>
              <a:t>출점·비교·예측·마케팅 등 맥락에 맞는 데이터만 조회</a:t>
            </a:r>
          </a:p>
        </p:txBody>
      </p:sp>
      <p:sp>
        <p:nvSpPr>
          <p:cNvPr id="342" name="Rounded Rectangle 341"/>
          <p:cNvSpPr/>
          <p:nvPr/>
        </p:nvSpPr>
        <p:spPr>
          <a:xfrm>
            <a:off x="234825" y="556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핵심 분석 인사이트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234825" y="2300000"/>
            <a:ext cx="144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기대 효과</a:t>
            </a:r>
          </a:p>
        </p:txBody>
      </p:sp>
      <p:sp>
        <p:nvSpPr>
          <p:cNvPr id="344" name="Rounded Rectangle 343"/>
          <p:cNvSpPr/>
          <p:nvPr/>
        </p:nvSpPr>
        <p:spPr>
          <a:xfrm>
            <a:off x="4706000" y="2300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향후 실행 방안 제안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"/>
          <p:cNvSpPr txBox="1"/>
          <p:nvPr/>
        </p:nvSpPr>
        <p:spPr>
          <a:xfrm>
            <a:off x="363048" y="2108950"/>
            <a:ext cx="81807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9"/>
          <p:cNvSpPr/>
          <p:nvPr/>
        </p:nvSpPr>
        <p:spPr>
          <a:xfrm>
            <a:off x="234825" y="926650"/>
            <a:ext cx="8488200" cy="1182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r>
              <a:rPr sz="800" b="0"/>
              <a:t>8차원 특성(낮밤인구비·방문비중·소비집중도·1인당매출·소득·업종비중·MZ비중·주말역전)으로 K-Means 8개 상권 유형 자동 분류</a:t>
            </a:r>
          </a:p>
          <a:p>
            <a:r>
              <a:rPr sz="800" b="0"/>
              <a:t>출점 시뮬레이션: 유동인구 × capture rate × 객단가 × 소득보정 × 경쟁보정 → 예상 월매출 범위 산출</a:t>
            </a:r>
          </a:p>
          <a:p>
            <a:r>
              <a:rPr sz="800" b="0"/>
              <a:t>MiroFish AI가 118개 동네를 동시 분석 → 급부상/하락 동네 랭킹 + 유망/쇠퇴 업종 도출</a:t>
            </a:r>
          </a:p>
        </p:txBody>
      </p:sp>
      <p:sp>
        <p:nvSpPr>
          <p:cNvPr id="352" name="Google Shape;352;p39"/>
          <p:cNvSpPr txBox="1"/>
          <p:nvPr/>
        </p:nvSpPr>
        <p:spPr>
          <a:xfrm>
            <a:off x="234050" y="71750"/>
            <a:ext cx="5609700" cy="65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sz="1800" b="1"/>
              <a:t>미래 예측 — K-Means 클러스터링 &amp; AI 시뮬레이션</a:t>
            </a:r>
          </a:p>
        </p:txBody>
      </p:sp>
      <p:sp>
        <p:nvSpPr>
          <p:cNvPr id="353" name="Google Shape;353;p39"/>
          <p:cNvSpPr txBox="1"/>
          <p:nvPr/>
        </p:nvSpPr>
        <p:spPr>
          <a:xfrm>
            <a:off x="4854874" y="4657500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9"/>
          <p:cNvSpPr/>
          <p:nvPr/>
        </p:nvSpPr>
        <p:spPr>
          <a:xfrm>
            <a:off x="4796100" y="2647075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r>
              <a:rPr sz="800" b="1"/>
              <a:t>What-if 시뮬레이션 확장</a:t>
            </a:r>
          </a:p>
          <a:p>
            <a:r>
              <a:rPr sz="700" b="0"/>
              <a:t>"지하철역 신설 시 유동인구 변화" 예측</a:t>
            </a:r>
          </a:p>
          <a:p>
            <a:r>
              <a:rPr sz="700" b="0"/>
              <a:t>"대형 오피스 입주 시 상권 변화"</a:t>
            </a:r>
          </a:p>
          <a:p>
            <a:r>
              <a:rPr sz="800" b="1"/>
              <a:t>실시간 GPS 연동</a:t>
            </a:r>
          </a:p>
          <a:p>
            <a:r>
              <a:rPr sz="700" b="0"/>
              <a:t>통신사 위치 데이터로 실제 이동 반영</a:t>
            </a:r>
          </a:p>
          <a:p>
            <a:r>
              <a:rPr sz="700" b="0"/>
              <a:t>합성 → 실제 시민 데이터로 정확도 향상</a:t>
            </a:r>
          </a:p>
          <a:p>
            <a:r>
              <a:rPr sz="800" b="1"/>
              <a:t>페르소나 기반 마케팅</a:t>
            </a:r>
          </a:p>
          <a:p>
            <a:r>
              <a:rPr sz="700" b="0"/>
              <a:t>성별·연령·직업군 교차 조합 타겟팅</a:t>
            </a:r>
          </a:p>
        </p:txBody>
      </p:sp>
      <p:sp>
        <p:nvSpPr>
          <p:cNvPr id="357" name="Google Shape;357;p39"/>
          <p:cNvSpPr txBox="1"/>
          <p:nvPr/>
        </p:nvSpPr>
        <p:spPr>
          <a:xfrm>
            <a:off x="380642" y="4657513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9"/>
          <p:cNvSpPr/>
          <p:nvPr/>
        </p:nvSpPr>
        <p:spPr>
          <a:xfrm>
            <a:off x="321868" y="2647088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r>
              <a:rPr sz="800" b="1"/>
              <a:t>상권 유형 자동 분류</a:t>
            </a:r>
          </a:p>
          <a:p>
            <a:r>
              <a:rPr sz="700" b="0"/>
              <a:t>직장인 밀집·핫플 상권·MZ 핫스팟 등 8개 유형</a:t>
            </a:r>
          </a:p>
          <a:p>
            <a:r>
              <a:rPr sz="700" b="0"/>
              <a:t>코사인 유사도 기반 유사 동네 추천</a:t>
            </a:r>
          </a:p>
          <a:p>
            <a:r>
              <a:rPr sz="800" b="1"/>
              <a:t>출점 리스크 사전 검증</a:t>
            </a:r>
          </a:p>
          <a:p>
            <a:r>
              <a:rPr sz="700" b="0"/>
              <a:t>오픈 전 시뮬레이션으로 예상 매출 범위 확인</a:t>
            </a:r>
          </a:p>
          <a:p>
            <a:r>
              <a:rPr sz="700" b="0"/>
              <a:t>피크 시간대·주 고객층·리스크 요인 분석</a:t>
            </a:r>
          </a:p>
          <a:p>
            <a:r>
              <a:rPr sz="800" b="1"/>
              <a:t>AI 기반 3개월 전망</a:t>
            </a:r>
          </a:p>
          <a:p>
            <a:r>
              <a:rPr sz="700" b="0"/>
              <a:t>MiroFish: 클러스터별 분석가 구조로 118개 동네 동시 예측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234825" y="556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핵심 분석 인사이트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234825" y="2300000"/>
            <a:ext cx="144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기대 효과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4706000" y="2300000"/>
            <a:ext cx="2160000" cy="2880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향후 실행 방안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owflake 2025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1051</Words>
  <Application>Microsoft Office PowerPoint</Application>
  <PresentationFormat>화면 슬라이드 쇼(16:9)</PresentationFormat>
  <Paragraphs>122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Montserrat</vt:lpstr>
      <vt:lpstr>Calibri</vt:lpstr>
      <vt:lpstr>Arial</vt:lpstr>
      <vt:lpstr>Arial Black</vt:lpstr>
      <vt:lpstr>Lato</vt:lpstr>
      <vt:lpstr>Noto Sans KR</vt:lpstr>
      <vt:lpstr>Snowflake 2025.01</vt:lpstr>
      <vt:lpstr>동네 엑스레이</vt:lpstr>
      <vt:lpstr>INSTRUCTIONS: </vt:lpstr>
      <vt:lpstr>REQUIREMENTS (필요 제출 사항):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 u</dc:creator>
  <cp:lastModifiedBy>ser u</cp:lastModifiedBy>
  <cp:revision>1</cp:revision>
  <dcterms:modified xsi:type="dcterms:W3CDTF">2026-04-12T07:17:43Z</dcterms:modified>
</cp:coreProperties>
</file>