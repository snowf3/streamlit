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8"/>
  </p:notesMasterIdLst>
  <p:sldIdLst>
    <p:sldId id="256" r:id="rId2"/>
    <p:sldId id="259" r:id="rId3"/>
    <p:sldId id="260" r:id="rId4"/>
    <p:sldId id="261" r:id="rId5"/>
    <p:sldId id="262" r:id="rId6"/>
    <p:sldId id="263" r:id="rId7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9"/>
      <p:bold r:id="rId10"/>
    </p:embeddedFon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Noto Sans KR" panose="020B0200000000000000" pitchFamily="50" charset="-127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D5FF87-20A9-4F0A-9CAD-3234F2BD834F}" v="2" dt="2026-04-12T07:35:29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50" autoAdjust="0"/>
  </p:normalViewPr>
  <p:slideViewPr>
    <p:cSldViewPr snapToGrid="0">
      <p:cViewPr varScale="1">
        <p:scale>
          <a:sx n="110" d="100"/>
          <a:sy n="110" d="100"/>
        </p:scale>
        <p:origin x="423" y="7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 u" userId="0f930aa2479a52fd" providerId="LiveId" clId="{1BF6A935-C8B8-4EA2-B204-6F7D0330E7F4}"/>
    <pc:docChg chg="undo custSel modSld">
      <pc:chgData name="ser u" userId="0f930aa2479a52fd" providerId="LiveId" clId="{1BF6A935-C8B8-4EA2-B204-6F7D0330E7F4}" dt="2026-04-12T07:36:58.024" v="169" actId="20577"/>
      <pc:docMkLst>
        <pc:docMk/>
      </pc:docMkLst>
      <pc:sldChg chg="modSp mod">
        <pc:chgData name="ser u" userId="0f930aa2479a52fd" providerId="LiveId" clId="{1BF6A935-C8B8-4EA2-B204-6F7D0330E7F4}" dt="2026-04-12T07:36:58.024" v="169" actId="20577"/>
        <pc:sldMkLst>
          <pc:docMk/>
          <pc:sldMk cId="0" sldId="259"/>
        </pc:sldMkLst>
        <pc:spChg chg="mod">
          <ac:chgData name="ser u" userId="0f930aa2479a52fd" providerId="LiveId" clId="{1BF6A935-C8B8-4EA2-B204-6F7D0330E7F4}" dt="2026-04-12T07:36:48.877" v="163" actId="20577"/>
          <ac:spMkLst>
            <pc:docMk/>
            <pc:sldMk cId="0" sldId="259"/>
            <ac:spMk id="295" creationId="{00000000-0000-0000-0000-000000000000}"/>
          </ac:spMkLst>
        </pc:spChg>
        <pc:spChg chg="mod">
          <ac:chgData name="ser u" userId="0f930aa2479a52fd" providerId="LiveId" clId="{1BF6A935-C8B8-4EA2-B204-6F7D0330E7F4}" dt="2026-04-12T07:36:58.024" v="169" actId="20577"/>
          <ac:spMkLst>
            <pc:docMk/>
            <pc:sldMk cId="0" sldId="259"/>
            <ac:spMk id="299" creationId="{00000000-0000-0000-0000-000000000000}"/>
          </ac:spMkLst>
        </pc:spChg>
        <pc:spChg chg="mod">
          <ac:chgData name="ser u" userId="0f930aa2479a52fd" providerId="LiveId" clId="{1BF6A935-C8B8-4EA2-B204-6F7D0330E7F4}" dt="2026-04-12T07:34:39.795" v="22" actId="1036"/>
          <ac:spMkLst>
            <pc:docMk/>
            <pc:sldMk cId="0" sldId="259"/>
            <ac:spMk id="314" creationId="{00000000-0000-0000-0000-000000000000}"/>
          </ac:spMkLst>
        </pc:spChg>
        <pc:spChg chg="mod">
          <ac:chgData name="ser u" userId="0f930aa2479a52fd" providerId="LiveId" clId="{1BF6A935-C8B8-4EA2-B204-6F7D0330E7F4}" dt="2026-04-12T07:34:39.795" v="22" actId="1036"/>
          <ac:spMkLst>
            <pc:docMk/>
            <pc:sldMk cId="0" sldId="259"/>
            <ac:spMk id="315" creationId="{00000000-0000-0000-0000-000000000000}"/>
          </ac:spMkLst>
        </pc:spChg>
        <pc:spChg chg="mod">
          <ac:chgData name="ser u" userId="0f930aa2479a52fd" providerId="LiveId" clId="{1BF6A935-C8B8-4EA2-B204-6F7D0330E7F4}" dt="2026-04-12T07:34:39.795" v="22" actId="1036"/>
          <ac:spMkLst>
            <pc:docMk/>
            <pc:sldMk cId="0" sldId="259"/>
            <ac:spMk id="316" creationId="{00000000-0000-0000-0000-000000000000}"/>
          </ac:spMkLst>
        </pc:spChg>
        <pc:spChg chg="mod">
          <ac:chgData name="ser u" userId="0f930aa2479a52fd" providerId="LiveId" clId="{1BF6A935-C8B8-4EA2-B204-6F7D0330E7F4}" dt="2026-04-12T07:34:39.795" v="22" actId="1036"/>
          <ac:spMkLst>
            <pc:docMk/>
            <pc:sldMk cId="0" sldId="259"/>
            <ac:spMk id="317" creationId="{00000000-0000-0000-0000-000000000000}"/>
          </ac:spMkLst>
        </pc:spChg>
        <pc:spChg chg="mod">
          <ac:chgData name="ser u" userId="0f930aa2479a52fd" providerId="LiveId" clId="{1BF6A935-C8B8-4EA2-B204-6F7D0330E7F4}" dt="2026-04-12T07:34:39.795" v="22" actId="1036"/>
          <ac:spMkLst>
            <pc:docMk/>
            <pc:sldMk cId="0" sldId="259"/>
            <ac:spMk id="318" creationId="{00000000-0000-0000-0000-000000000000}"/>
          </ac:spMkLst>
        </pc:spChg>
        <pc:spChg chg="mod">
          <ac:chgData name="ser u" userId="0f930aa2479a52fd" providerId="LiveId" clId="{1BF6A935-C8B8-4EA2-B204-6F7D0330E7F4}" dt="2026-04-12T07:34:39.795" v="22" actId="1036"/>
          <ac:spMkLst>
            <pc:docMk/>
            <pc:sldMk cId="0" sldId="259"/>
            <ac:spMk id="319" creationId="{00000000-0000-0000-0000-000000000000}"/>
          </ac:spMkLst>
        </pc:spChg>
        <pc:spChg chg="mod">
          <ac:chgData name="ser u" userId="0f930aa2479a52fd" providerId="LiveId" clId="{1BF6A935-C8B8-4EA2-B204-6F7D0330E7F4}" dt="2026-04-12T07:34:39.795" v="22" actId="1036"/>
          <ac:spMkLst>
            <pc:docMk/>
            <pc:sldMk cId="0" sldId="259"/>
            <ac:spMk id="320" creationId="{00000000-0000-0000-0000-000000000000}"/>
          </ac:spMkLst>
        </pc:spChg>
        <pc:spChg chg="mod">
          <ac:chgData name="ser u" userId="0f930aa2479a52fd" providerId="LiveId" clId="{1BF6A935-C8B8-4EA2-B204-6F7D0330E7F4}" dt="2026-04-12T07:34:53.125" v="62" actId="1035"/>
          <ac:spMkLst>
            <pc:docMk/>
            <pc:sldMk cId="0" sldId="259"/>
            <ac:spMk id="322" creationId="{00000000-0000-0000-0000-000000000000}"/>
          </ac:spMkLst>
        </pc:spChg>
        <pc:spChg chg="mod">
          <ac:chgData name="ser u" userId="0f930aa2479a52fd" providerId="LiveId" clId="{1BF6A935-C8B8-4EA2-B204-6F7D0330E7F4}" dt="2026-04-12T07:34:53.125" v="62" actId="1035"/>
          <ac:spMkLst>
            <pc:docMk/>
            <pc:sldMk cId="0" sldId="259"/>
            <ac:spMk id="324" creationId="{00000000-0000-0000-0000-000000000000}"/>
          </ac:spMkLst>
        </pc:spChg>
        <pc:spChg chg="mod">
          <ac:chgData name="ser u" userId="0f930aa2479a52fd" providerId="LiveId" clId="{1BF6A935-C8B8-4EA2-B204-6F7D0330E7F4}" dt="2026-04-12T07:34:53.125" v="62" actId="1035"/>
          <ac:spMkLst>
            <pc:docMk/>
            <pc:sldMk cId="0" sldId="259"/>
            <ac:spMk id="326" creationId="{00000000-0000-0000-0000-000000000000}"/>
          </ac:spMkLst>
        </pc:spChg>
        <pc:spChg chg="mod">
          <ac:chgData name="ser u" userId="0f930aa2479a52fd" providerId="LiveId" clId="{1BF6A935-C8B8-4EA2-B204-6F7D0330E7F4}" dt="2026-04-12T07:34:53.125" v="62" actId="1035"/>
          <ac:spMkLst>
            <pc:docMk/>
            <pc:sldMk cId="0" sldId="259"/>
            <ac:spMk id="328" creationId="{00000000-0000-0000-0000-000000000000}"/>
          </ac:spMkLst>
        </pc:spChg>
        <pc:picChg chg="mod">
          <ac:chgData name="ser u" userId="0f930aa2479a52fd" providerId="LiveId" clId="{1BF6A935-C8B8-4EA2-B204-6F7D0330E7F4}" dt="2026-04-12T07:34:53.125" v="62" actId="1035"/>
          <ac:picMkLst>
            <pc:docMk/>
            <pc:sldMk cId="0" sldId="259"/>
            <ac:picMk id="325" creationId="{00000000-0000-0000-0000-000000000000}"/>
          </ac:picMkLst>
        </pc:picChg>
        <pc:picChg chg="mod">
          <ac:chgData name="ser u" userId="0f930aa2479a52fd" providerId="LiveId" clId="{1BF6A935-C8B8-4EA2-B204-6F7D0330E7F4}" dt="2026-04-12T07:34:53.125" v="62" actId="1035"/>
          <ac:picMkLst>
            <pc:docMk/>
            <pc:sldMk cId="0" sldId="259"/>
            <ac:picMk id="327" creationId="{00000000-0000-0000-0000-000000000000}"/>
          </ac:picMkLst>
        </pc:picChg>
        <pc:picChg chg="mod">
          <ac:chgData name="ser u" userId="0f930aa2479a52fd" providerId="LiveId" clId="{1BF6A935-C8B8-4EA2-B204-6F7D0330E7F4}" dt="2026-04-12T07:34:53.125" v="62" actId="1035"/>
          <ac:picMkLst>
            <pc:docMk/>
            <pc:sldMk cId="0" sldId="259"/>
            <ac:picMk id="329" creationId="{00000000-0000-0000-0000-000000000000}"/>
          </ac:picMkLst>
        </pc:picChg>
        <pc:picChg chg="mod">
          <ac:chgData name="ser u" userId="0f930aa2479a52fd" providerId="LiveId" clId="{1BF6A935-C8B8-4EA2-B204-6F7D0330E7F4}" dt="2026-04-12T07:34:53.125" v="62" actId="1035"/>
          <ac:picMkLst>
            <pc:docMk/>
            <pc:sldMk cId="0" sldId="259"/>
            <ac:picMk id="33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62eb4831da_0_8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62eb4831da_0_8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62eb4831da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62eb4831da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792b7e50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d792b7e505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792b7e505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d792b7e505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792b7e505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d792b7e505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62eb4831da_0_1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62eb4831da_0_1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">
  <p:cSld name="Multi-use layou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2-Line Title">
  <p:cSld name="Multi-use layout_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365760" y="1122367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0" y="343500"/>
            <a:ext cx="137100" cy="7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Dotted Lines 01">
  <p:cSld name="Multi-use layout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3" y="3761952"/>
            <a:ext cx="9143997" cy="1371564"/>
            <a:chOff x="-10" y="3735321"/>
            <a:chExt cx="9139427" cy="1408177"/>
          </a:xfrm>
        </p:grpSpPr>
        <p:pic>
          <p:nvPicPr>
            <p:cNvPr id="28" name="Google Shape;28;p4"/>
            <p:cNvPicPr preferRelativeResize="0"/>
            <p:nvPr/>
          </p:nvPicPr>
          <p:blipFill rotWithShape="1">
            <a:blip r:embed="rId2">
              <a:alphaModFix amt="29000"/>
            </a:blip>
            <a:srcRect t="140" b="140"/>
            <a:stretch/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/>
            <p:cNvPicPr preferRelativeResize="0"/>
            <p:nvPr/>
          </p:nvPicPr>
          <p:blipFill rotWithShape="1">
            <a:blip r:embed="rId3">
              <a:alphaModFix amt="29000"/>
            </a:blip>
            <a:srcRect t="140" b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4"/>
            <p:cNvPicPr preferRelativeResize="0"/>
            <p:nvPr/>
          </p:nvPicPr>
          <p:blipFill rotWithShape="1">
            <a:blip r:embed="rId4">
              <a:alphaModFix amt="29000"/>
            </a:blip>
            <a:srcRect t="140" b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Dotted Lines 02">
  <p:cSld name="Multi-use layout_1_1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5"/>
          <p:cNvGrpSpPr/>
          <p:nvPr/>
        </p:nvGrpSpPr>
        <p:grpSpPr>
          <a:xfrm>
            <a:off x="0" y="4370576"/>
            <a:ext cx="9144001" cy="772925"/>
            <a:chOff x="0" y="4370576"/>
            <a:chExt cx="9144001" cy="772925"/>
          </a:xfrm>
        </p:grpSpPr>
        <p:pic>
          <p:nvPicPr>
            <p:cNvPr id="40" name="Google Shape;40;p5"/>
            <p:cNvPicPr preferRelativeResize="0"/>
            <p:nvPr/>
          </p:nvPicPr>
          <p:blipFill rotWithShape="1">
            <a:blip r:embed="rId2">
              <a:alphaModFix amt="29000"/>
            </a:blip>
            <a:srcRect t="140" b="43664"/>
            <a:stretch/>
          </p:blipFill>
          <p:spPr>
            <a:xfrm>
              <a:off x="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5"/>
            <p:cNvPicPr preferRelativeResize="0"/>
            <p:nvPr/>
          </p:nvPicPr>
          <p:blipFill rotWithShape="1">
            <a:blip r:embed="rId3">
              <a:alphaModFix amt="29000"/>
            </a:blip>
            <a:srcRect t="140" b="43664"/>
            <a:stretch/>
          </p:blipFill>
          <p:spPr>
            <a:xfrm>
              <a:off x="305105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 amt="29000"/>
            </a:blip>
            <a:srcRect t="140" b="43664"/>
            <a:stretch/>
          </p:blipFill>
          <p:spPr>
            <a:xfrm>
              <a:off x="6097525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Dotted Arrows">
  <p:cSld name="Multi-use layout_1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 l="22840"/>
          <a:stretch/>
        </p:blipFill>
        <p:spPr>
          <a:xfrm flipH="1">
            <a:off x="7782375" y="2935675"/>
            <a:ext cx="1368150" cy="193122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6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Layout">
  <p:cSld name="One Column Layou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>
            <a:spLocks noGrp="1"/>
          </p:cNvSpPr>
          <p:nvPr>
            <p:ph type="body" idx="1"/>
          </p:nvPr>
        </p:nvSpPr>
        <p:spPr>
          <a:xfrm>
            <a:off x="365750" y="1371600"/>
            <a:ext cx="6261300" cy="3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365750" y="274323"/>
            <a:ext cx="83211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 txBox="1">
            <a:spLocks noGrp="1"/>
          </p:cNvSpPr>
          <p:nvPr>
            <p:ph type="subTitle" idx="2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Layout">
  <p:cSld name="One Column Layout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365750" y="274323"/>
            <a:ext cx="83484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1"/>
          </p:nvPr>
        </p:nvSpPr>
        <p:spPr>
          <a:xfrm>
            <a:off x="365750" y="1371600"/>
            <a:ext cx="41604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body" idx="2"/>
          </p:nvPr>
        </p:nvSpPr>
        <p:spPr>
          <a:xfrm>
            <a:off x="4617721" y="1371600"/>
            <a:ext cx="41604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 txBox="1">
            <a:spLocks noGrp="1"/>
          </p:cNvSpPr>
          <p:nvPr>
            <p:ph type="subTitle" idx="3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8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Layout">
  <p:cSld name="One Column Layout_1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>
            <a:spLocks noGrp="1"/>
          </p:cNvSpPr>
          <p:nvPr>
            <p:ph type="title"/>
          </p:nvPr>
        </p:nvSpPr>
        <p:spPr>
          <a:xfrm>
            <a:off x="365750" y="274320"/>
            <a:ext cx="83577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body" idx="1"/>
          </p:nvPr>
        </p:nvSpPr>
        <p:spPr>
          <a:xfrm>
            <a:off x="365750" y="1371600"/>
            <a:ext cx="26976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body" idx="2"/>
          </p:nvPr>
        </p:nvSpPr>
        <p:spPr>
          <a:xfrm>
            <a:off x="3169031" y="1371600"/>
            <a:ext cx="26976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body" idx="3"/>
          </p:nvPr>
        </p:nvSpPr>
        <p:spPr>
          <a:xfrm>
            <a:off x="6127925" y="1371600"/>
            <a:ext cx="26976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ldNum" idx="12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9"/>
          <p:cNvSpPr txBox="1">
            <a:spLocks noGrp="1"/>
          </p:cNvSpPr>
          <p:nvPr>
            <p:ph type="subTitle" idx="4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9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996">
          <p15:clr>
            <a:srgbClr val="FA7B17"/>
          </p15:clr>
        </p15:guide>
        <p15:guide id="2" pos="1906">
          <p15:clr>
            <a:srgbClr val="FA7B17"/>
          </p15:clr>
        </p15:guide>
        <p15:guide id="3" pos="3758">
          <p15:clr>
            <a:srgbClr val="FA7B17"/>
          </p15:clr>
        </p15:guide>
        <p15:guide id="4" pos="3860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 Layout">
  <p:cSld name="One Column Layout_1_1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/>
          <p:nvPr/>
        </p:nvSpPr>
        <p:spPr>
          <a:xfrm>
            <a:off x="457195" y="4846508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"/>
          <p:cNvSpPr txBox="1">
            <a:spLocks noGrp="1"/>
          </p:cNvSpPr>
          <p:nvPr>
            <p:ph type="sldNum" idx="12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title"/>
          </p:nvPr>
        </p:nvSpPr>
        <p:spPr>
          <a:xfrm>
            <a:off x="365750" y="274320"/>
            <a:ext cx="83484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body" idx="1"/>
          </p:nvPr>
        </p:nvSpPr>
        <p:spPr>
          <a:xfrm>
            <a:off x="365750" y="1371600"/>
            <a:ext cx="19203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91" name="Google Shape;91;p10"/>
          <p:cNvSpPr txBox="1">
            <a:spLocks noGrp="1"/>
          </p:cNvSpPr>
          <p:nvPr>
            <p:ph type="body" idx="2"/>
          </p:nvPr>
        </p:nvSpPr>
        <p:spPr>
          <a:xfrm>
            <a:off x="2459408" y="1371600"/>
            <a:ext cx="19203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92" name="Google Shape;92;p10"/>
          <p:cNvSpPr txBox="1">
            <a:spLocks noGrp="1"/>
          </p:cNvSpPr>
          <p:nvPr>
            <p:ph type="body" idx="3"/>
          </p:nvPr>
        </p:nvSpPr>
        <p:spPr>
          <a:xfrm>
            <a:off x="4673192" y="1371600"/>
            <a:ext cx="19203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body" idx="4"/>
          </p:nvPr>
        </p:nvSpPr>
        <p:spPr>
          <a:xfrm>
            <a:off x="6887000" y="1371600"/>
            <a:ext cx="19203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94" name="Google Shape;94;p10"/>
          <p:cNvSpPr/>
          <p:nvPr/>
        </p:nvSpPr>
        <p:spPr>
          <a:xfrm>
            <a:off x="660640" y="4867093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0"/>
          <p:cNvSpPr txBox="1">
            <a:spLocks noGrp="1"/>
          </p:cNvSpPr>
          <p:nvPr>
            <p:ph type="subTitle" idx="5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0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22">
          <p15:clr>
            <a:srgbClr val="FA7B17"/>
          </p15:clr>
        </p15:guide>
        <p15:guide id="2" pos="4211">
          <p15:clr>
            <a:srgbClr val="FA7B17"/>
          </p15:clr>
        </p15:guide>
        <p15:guide id="3" pos="1549">
          <p15:clr>
            <a:srgbClr val="FA7B17"/>
          </p15:clr>
        </p15:guide>
        <p15:guide id="4" pos="2816">
          <p15:clr>
            <a:srgbClr val="FA7B17"/>
          </p15:clr>
        </p15:guide>
        <p15:guide id="5" pos="2944">
          <p15:clr>
            <a:srgbClr val="FA7B17"/>
          </p15:clr>
        </p15:guide>
        <p15:guide id="6" pos="4338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/>
          <p:nvPr/>
        </p:nvSpPr>
        <p:spPr>
          <a:xfrm>
            <a:off x="2291700" y="0"/>
            <a:ext cx="685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body" idx="1"/>
          </p:nvPr>
        </p:nvSpPr>
        <p:spPr>
          <a:xfrm>
            <a:off x="365750" y="274320"/>
            <a:ext cx="1926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 b="1" i="0" cap="none">
                <a:solidFill>
                  <a:schemeClr val="dk1"/>
                </a:solidFill>
              </a:defRPr>
            </a:lvl1pPr>
            <a:lvl2pPr marL="914400" lvl="1" indent="-3429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2pPr>
            <a:lvl3pPr marL="1371600" lvl="2" indent="-3429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/>
            </a:lvl3pPr>
            <a:lvl4pPr marL="1828800" lvl="3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4pPr>
            <a:lvl5pPr marL="2286000" lvl="4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5pPr>
            <a:lvl6pPr marL="2743200" lvl="5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6pPr>
            <a:lvl7pPr marL="3200400" lvl="6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7pPr>
            <a:lvl8pPr marL="3657600" lvl="7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8pPr>
            <a:lvl9pPr marL="4114800" lvl="8" indent="-317500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•"/>
              <a:defRPr b="1"/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ldNum" idx="12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1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body" idx="2"/>
          </p:nvPr>
        </p:nvSpPr>
        <p:spPr>
          <a:xfrm>
            <a:off x="2961200" y="914400"/>
            <a:ext cx="5725500" cy="377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11"/>
          <p:cNvSpPr/>
          <p:nvPr/>
        </p:nvSpPr>
        <p:spPr>
          <a:xfrm>
            <a:off x="6369225" y="228600"/>
            <a:ext cx="1322446" cy="1414662"/>
          </a:xfrm>
          <a:custGeom>
            <a:avLst/>
            <a:gdLst/>
            <a:ahLst/>
            <a:cxnLst/>
            <a:rect l="l" t="t" r="r" b="b"/>
            <a:pathLst>
              <a:path w="1950" h="2085" extrusionOk="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2295101" y="2767075"/>
            <a:ext cx="2772174" cy="2372082"/>
          </a:xfrm>
          <a:custGeom>
            <a:avLst/>
            <a:gdLst/>
            <a:ahLst/>
            <a:cxnLst/>
            <a:rect l="l" t="t" r="r" b="b"/>
            <a:pathLst>
              <a:path w="4248542" h="3635375" extrusionOk="0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7" name="Google Shape;107;p11"/>
          <p:cNvPicPr preferRelativeResize="0"/>
          <p:nvPr/>
        </p:nvPicPr>
        <p:blipFill rotWithShape="1">
          <a:blip r:embed="rId2">
            <a:alphaModFix/>
          </a:blip>
          <a:srcRect l="16764"/>
          <a:stretch/>
        </p:blipFill>
        <p:spPr>
          <a:xfrm rot="10800000">
            <a:off x="7338076" y="640000"/>
            <a:ext cx="1805925" cy="23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Blue Left Bar">
  <p:cSld name="Agenda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/>
          <p:nvPr/>
        </p:nvSpPr>
        <p:spPr>
          <a:xfrm flipH="1">
            <a:off x="-775" y="0"/>
            <a:ext cx="2743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2"/>
          <p:cNvSpPr txBox="1">
            <a:spLocks noGrp="1"/>
          </p:cNvSpPr>
          <p:nvPr>
            <p:ph type="body" idx="1"/>
          </p:nvPr>
        </p:nvSpPr>
        <p:spPr>
          <a:xfrm>
            <a:off x="365750" y="274320"/>
            <a:ext cx="2376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 b="1" i="0" cap="none">
                <a:solidFill>
                  <a:srgbClr val="FFFFFF"/>
                </a:solidFill>
              </a:defRPr>
            </a:lvl1pPr>
            <a:lvl2pPr marL="914400" lvl="1" indent="-34290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b="1">
                <a:solidFill>
                  <a:srgbClr val="FFFFFF"/>
                </a:solidFill>
              </a:defRPr>
            </a:lvl2pPr>
            <a:lvl3pPr marL="1371600" lvl="2" indent="-3429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sz="1800" b="1">
                <a:solidFill>
                  <a:srgbClr val="FFFFFF"/>
                </a:solidFill>
              </a:defRPr>
            </a:lvl3pPr>
            <a:lvl4pPr marL="1828800" lvl="3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4pPr>
            <a:lvl5pPr marL="2286000" lvl="4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5pPr>
            <a:lvl6pPr marL="2743200" lvl="5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6pPr>
            <a:lvl7pPr marL="3200400" lvl="6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7pPr>
            <a:lvl8pPr marL="3657600" lvl="7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8pPr>
            <a:lvl9pPr marL="4114800" lvl="8" indent="-317500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2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2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FFFFFF"/>
                </a:solidFill>
              </a:rPr>
              <a:t>2026</a:t>
            </a:r>
            <a:r>
              <a:rPr lang="en" sz="6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2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Layout">
  <p:cSld name="Split Layou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6024563" y="257175"/>
            <a:ext cx="1488103" cy="1591866"/>
          </a:xfrm>
          <a:custGeom>
            <a:avLst/>
            <a:gdLst/>
            <a:ahLst/>
            <a:cxnLst/>
            <a:rect l="l" t="t" r="r" b="b"/>
            <a:pathLst>
              <a:path w="1950" h="2085" extrusionOk="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4574381" y="2416970"/>
            <a:ext cx="3186406" cy="2726531"/>
          </a:xfrm>
          <a:custGeom>
            <a:avLst/>
            <a:gdLst/>
            <a:ahLst/>
            <a:cxnLst/>
            <a:rect l="l" t="t" r="r" b="b"/>
            <a:pathLst>
              <a:path w="4248542" h="3635375" extrusionOk="0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7184151" y="634350"/>
            <a:ext cx="1959849" cy="2806348"/>
          </a:xfrm>
          <a:custGeom>
            <a:avLst/>
            <a:gdLst/>
            <a:ahLst/>
            <a:cxnLst/>
            <a:rect l="l" t="t" r="r" b="b"/>
            <a:pathLst>
              <a:path w="2613132" h="3741797" extrusionOk="0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6491288" y="2753536"/>
            <a:ext cx="1576390" cy="1686306"/>
          </a:xfrm>
          <a:custGeom>
            <a:avLst/>
            <a:gdLst/>
            <a:ahLst/>
            <a:cxnLst/>
            <a:rect l="l" t="t" r="r" b="b"/>
            <a:pathLst>
              <a:path w="1950" h="2085" extrusionOk="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45880"/>
            </a:srgb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1"/>
          </p:nvPr>
        </p:nvSpPr>
        <p:spPr>
          <a:xfrm>
            <a:off x="365750" y="634350"/>
            <a:ext cx="38274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marL="914400" lvl="1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2pPr>
            <a:lvl3pPr marL="1371600" lvl="2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3pPr>
            <a:lvl4pPr marL="1828800" lvl="3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4pPr>
            <a:lvl5pPr marL="2286000" lvl="4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5pPr>
            <a:lvl6pPr marL="2743200" lvl="5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6pPr>
            <a:lvl7pPr marL="3200400" lvl="6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7pPr>
            <a:lvl8pPr marL="3657600" lvl="7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8pPr>
            <a:lvl9pPr marL="4114800" lvl="8" indent="-342900" algn="l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title"/>
          </p:nvPr>
        </p:nvSpPr>
        <p:spPr>
          <a:xfrm>
            <a:off x="365755" y="274320"/>
            <a:ext cx="39789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13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3"/>
          <p:cNvPicPr preferRelativeResize="0"/>
          <p:nvPr/>
        </p:nvPicPr>
        <p:blipFill rotWithShape="1">
          <a:blip r:embed="rId2">
            <a:alphaModFix/>
          </a:blip>
          <a:srcRect l="13585" b="9584"/>
          <a:stretch/>
        </p:blipFill>
        <p:spPr>
          <a:xfrm>
            <a:off x="4572000" y="3214250"/>
            <a:ext cx="1693648" cy="192925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3"/>
          <p:cNvSpPr/>
          <p:nvPr/>
        </p:nvSpPr>
        <p:spPr>
          <a:xfrm>
            <a:off x="8067676" y="228601"/>
            <a:ext cx="1077917" cy="1543491"/>
          </a:xfrm>
          <a:custGeom>
            <a:avLst/>
            <a:gdLst/>
            <a:ahLst/>
            <a:cxnLst/>
            <a:rect l="l" t="t" r="r" b="b"/>
            <a:pathLst>
              <a:path w="2613132" h="3741797" extrusionOk="0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3"/>
          <p:cNvSpPr txBox="1">
            <a:spLocks noGrp="1"/>
          </p:cNvSpPr>
          <p:nvPr>
            <p:ph type="body" idx="2"/>
          </p:nvPr>
        </p:nvSpPr>
        <p:spPr>
          <a:xfrm>
            <a:off x="4937760" y="1280150"/>
            <a:ext cx="3566400" cy="3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 i="0" u="none" strike="noStrike" cap="none">
                <a:solidFill>
                  <a:schemeClr val="lt1"/>
                </a:solidFill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sz="1800" i="0" u="none" strike="noStrike" cap="none">
                <a:solidFill>
                  <a:schemeClr val="lt1"/>
                </a:solidFill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footer only)">
  <p:cSld name="Data Cloud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1">
  <p:cSld name="Data Cloud_1_1">
    <p:bg>
      <p:bgPr>
        <a:solidFill>
          <a:schemeClr val="accen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5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37" name="Google Shape;137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15"/>
            <p:cNvPicPr preferRelativeResize="0"/>
            <p:nvPr/>
          </p:nvPicPr>
          <p:blipFill rotWithShape="1">
            <a:blip r:embed="rId3">
              <a:alphaModFix/>
            </a:blip>
            <a:srcRect t="140" b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5"/>
            <p:cNvPicPr preferRelativeResize="0"/>
            <p:nvPr/>
          </p:nvPicPr>
          <p:blipFill rotWithShape="1">
            <a:blip r:embed="rId4">
              <a:alphaModFix/>
            </a:blip>
            <a:srcRect t="140" b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0" name="Google Shape;140;p15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41" name="Google Shape;141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5"/>
            <p:cNvPicPr preferRelativeResize="0"/>
            <p:nvPr/>
          </p:nvPicPr>
          <p:blipFill rotWithShape="1">
            <a:blip r:embed="rId3">
              <a:alphaModFix/>
            </a:blip>
            <a:srcRect t="140" b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5"/>
            <p:cNvPicPr preferRelativeResize="0"/>
            <p:nvPr/>
          </p:nvPicPr>
          <p:blipFill rotWithShape="1">
            <a:blip r:embed="rId4">
              <a:alphaModFix/>
            </a:blip>
            <a:srcRect t="140" b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4" name="Google Shape;144;p15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5"/>
          <p:cNvSpPr txBox="1">
            <a:spLocks noGrp="1"/>
          </p:cNvSpPr>
          <p:nvPr>
            <p:ph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" name="Google Shape;146;p15"/>
          <p:cNvSpPr txBox="1">
            <a:spLocks noGrp="1"/>
          </p:cNvSpPr>
          <p:nvPr>
            <p:ph type="title" idx="2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457200" y="548640"/>
            <a:ext cx="1828808" cy="418012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5"/>
          <p:cNvSpPr txBox="1">
            <a:spLocks noGrp="1"/>
          </p:cNvSpPr>
          <p:nvPr>
            <p:ph type="title" idx="3"/>
          </p:nvPr>
        </p:nvSpPr>
        <p:spPr>
          <a:xfrm>
            <a:off x="366600" y="1188725"/>
            <a:ext cx="74109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2">
  <p:cSld name="Data Cloud_1_1_3_2">
    <p:bg>
      <p:bgPr>
        <a:solidFill>
          <a:schemeClr val="accen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6"/>
          <p:cNvGrpSpPr/>
          <p:nvPr/>
        </p:nvGrpSpPr>
        <p:grpSpPr>
          <a:xfrm>
            <a:off x="-2" y="2914850"/>
            <a:ext cx="9143627" cy="2228425"/>
            <a:chOff x="-834856" y="2711517"/>
            <a:chExt cx="9978858" cy="2431981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2">
              <a:alphaModFix amt="85000"/>
            </a:blip>
            <a:srcRect l="45993" t="24707" b="30783"/>
            <a:stretch/>
          </p:blipFill>
          <p:spPr>
            <a:xfrm>
              <a:off x="-834856" y="2711517"/>
              <a:ext cx="3540541" cy="24319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16"/>
            <p:cNvPicPr preferRelativeResize="0"/>
            <p:nvPr/>
          </p:nvPicPr>
          <p:blipFill rotWithShape="1">
            <a:blip r:embed="rId3">
              <a:alphaModFix amt="85000"/>
            </a:blip>
            <a:srcRect t="25271" r="1932" b="30786"/>
            <a:stretch/>
          </p:blipFill>
          <p:spPr>
            <a:xfrm>
              <a:off x="2715550" y="2742300"/>
              <a:ext cx="6428452" cy="24011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Google Shape;153;p16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6"/>
          <p:cNvSpPr txBox="1">
            <a:spLocks noGrp="1"/>
          </p:cNvSpPr>
          <p:nvPr>
            <p:ph type="title"/>
          </p:nvPr>
        </p:nvSpPr>
        <p:spPr>
          <a:xfrm>
            <a:off x="366600" y="1188725"/>
            <a:ext cx="74034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55" name="Google Shape;155;p16"/>
          <p:cNvSpPr txBox="1">
            <a:spLocks noGrp="1"/>
          </p:cNvSpPr>
          <p:nvPr>
            <p:ph type="title" idx="2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title" idx="3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457200" y="548640"/>
            <a:ext cx="1828808" cy="418012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3">
  <p:cSld name="Data Cloud_1_1_3_1">
    <p:bg>
      <p:bgPr>
        <a:solidFill>
          <a:schemeClr val="accent1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7"/>
          <p:cNvGrpSpPr/>
          <p:nvPr/>
        </p:nvGrpSpPr>
        <p:grpSpPr>
          <a:xfrm rot="-5400000">
            <a:off x="5223451" y="1196298"/>
            <a:ext cx="5164226" cy="2747927"/>
            <a:chOff x="1155183" y="3814094"/>
            <a:chExt cx="3118306" cy="1659276"/>
          </a:xfrm>
        </p:grpSpPr>
        <p:pic>
          <p:nvPicPr>
            <p:cNvPr id="160" name="Google Shape;160;p17"/>
            <p:cNvPicPr preferRelativeResize="0"/>
            <p:nvPr/>
          </p:nvPicPr>
          <p:blipFill rotWithShape="1">
            <a:blip r:embed="rId2">
              <a:alphaModFix/>
            </a:blip>
            <a:srcRect l="37919" t="24706" b="10228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7"/>
            <p:cNvPicPr preferRelativeResize="0"/>
            <p:nvPr/>
          </p:nvPicPr>
          <p:blipFill rotWithShape="1">
            <a:blip r:embed="rId3">
              <a:alphaModFix/>
            </a:blip>
            <a:srcRect t="25270" r="59873" b="995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" name="Google Shape;162;p17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7"/>
          <p:cNvSpPr txBox="1">
            <a:spLocks noGrp="1"/>
          </p:cNvSpPr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title" idx="2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title" idx="3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457200" y="548640"/>
            <a:ext cx="1828808" cy="418012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4">
  <p:cSld name="Data Cloud_1_1_2">
    <p:bg>
      <p:bgPr>
        <a:solidFill>
          <a:schemeClr val="accent1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8"/>
          <p:cNvSpPr txBox="1">
            <a:spLocks noGrp="1"/>
          </p:cNvSpPr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70" name="Google Shape;170;p18"/>
          <p:cNvSpPr txBox="1">
            <a:spLocks noGrp="1"/>
          </p:cNvSpPr>
          <p:nvPr>
            <p:ph type="title" idx="2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" name="Google Shape;171;p18"/>
          <p:cNvSpPr txBox="1">
            <a:spLocks noGrp="1"/>
          </p:cNvSpPr>
          <p:nvPr>
            <p:ph type="title" idx="3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457200" y="548640"/>
            <a:ext cx="1828808" cy="418012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w/ Customer Logo">
  <p:cSld name="Data Cloud_1_1_1">
    <p:bg>
      <p:bgPr>
        <a:solidFill>
          <a:schemeClr val="accent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9"/>
          <p:cNvGrpSpPr/>
          <p:nvPr/>
        </p:nvGrpSpPr>
        <p:grpSpPr>
          <a:xfrm rot="-5400000">
            <a:off x="3113903" y="1996926"/>
            <a:ext cx="5157146" cy="1163295"/>
            <a:chOff x="49487" y="3735321"/>
            <a:chExt cx="6094477" cy="1408177"/>
          </a:xfrm>
        </p:grpSpPr>
        <p:pic>
          <p:nvPicPr>
            <p:cNvPr id="175" name="Google Shape;175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9"/>
            <p:cNvPicPr preferRelativeResize="0"/>
            <p:nvPr/>
          </p:nvPicPr>
          <p:blipFill rotWithShape="1">
            <a:blip r:embed="rId3">
              <a:alphaModFix/>
            </a:blip>
            <a:srcRect t="140" b="140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7" name="Google Shape;177;p19"/>
          <p:cNvGrpSpPr/>
          <p:nvPr/>
        </p:nvGrpSpPr>
        <p:grpSpPr>
          <a:xfrm rot="-5400000">
            <a:off x="3113903" y="1996926"/>
            <a:ext cx="5157146" cy="1163295"/>
            <a:chOff x="49487" y="3735321"/>
            <a:chExt cx="6094477" cy="1408177"/>
          </a:xfrm>
        </p:grpSpPr>
        <p:pic>
          <p:nvPicPr>
            <p:cNvPr id="178" name="Google Shape;178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19"/>
            <p:cNvPicPr preferRelativeResize="0"/>
            <p:nvPr/>
          </p:nvPicPr>
          <p:blipFill rotWithShape="1">
            <a:blip r:embed="rId3">
              <a:alphaModFix/>
            </a:blip>
            <a:srcRect t="140" b="140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0" name="Google Shape;180;p19"/>
          <p:cNvSpPr txBox="1">
            <a:spLocks noGrp="1"/>
          </p:cNvSpPr>
          <p:nvPr>
            <p:ph type="sldNum" idx="12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"/>
          <p:cNvSpPr txBox="1">
            <a:spLocks noGrp="1"/>
          </p:cNvSpPr>
          <p:nvPr>
            <p:ph type="title"/>
          </p:nvPr>
        </p:nvSpPr>
        <p:spPr>
          <a:xfrm>
            <a:off x="366600" y="1188725"/>
            <a:ext cx="57309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3" name="Google Shape;183;p19"/>
          <p:cNvSpPr txBox="1">
            <a:spLocks noGrp="1"/>
          </p:cNvSpPr>
          <p:nvPr>
            <p:ph type="title" idx="2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9"/>
          <p:cNvSpPr txBox="1">
            <a:spLocks noGrp="1"/>
          </p:cNvSpPr>
          <p:nvPr>
            <p:ph type="title" idx="3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6097525" y="0"/>
            <a:ext cx="3046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457200" y="548640"/>
            <a:ext cx="1828808" cy="418012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1 (No Graphics)">
  <p:cSld name="Quote - Violet_1_1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>
            <a:spLocks noGrp="1"/>
          </p:cNvSpPr>
          <p:nvPr>
            <p:ph type="body" idx="1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2">
  <p:cSld name="Quote - Violet_1_1_2_1">
    <p:bg>
      <p:bgPr>
        <a:solidFill>
          <a:schemeClr val="dk2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 rotWithShape="1">
          <a:blip r:embed="rId2">
            <a:alphaModFix amt="27000"/>
          </a:blip>
          <a:srcRect l="21476"/>
          <a:stretch/>
        </p:blipFill>
        <p:spPr>
          <a:xfrm flipH="1">
            <a:off x="7048002" y="1780300"/>
            <a:ext cx="2095998" cy="290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 rotWithShape="1">
          <a:blip r:embed="rId3">
            <a:alphaModFix/>
          </a:blip>
          <a:srcRect l="20792" t="10992"/>
          <a:stretch/>
        </p:blipFill>
        <p:spPr>
          <a:xfrm>
            <a:off x="0" y="0"/>
            <a:ext cx="1320175" cy="161522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>
            <a:spLocks noGrp="1"/>
          </p:cNvSpPr>
          <p:nvPr>
            <p:ph type="body" idx="1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3">
  <p:cSld name="Quote - Violet_1_1_2_1_1">
    <p:bg>
      <p:bgPr>
        <a:solidFill>
          <a:schemeClr val="dk2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22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99" name="Google Shape;199;p22"/>
            <p:cNvPicPr preferRelativeResize="0"/>
            <p:nvPr/>
          </p:nvPicPr>
          <p:blipFill>
            <a:blip r:embed="rId2">
              <a:alphaModFix amt="72000"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22"/>
            <p:cNvPicPr preferRelativeResize="0"/>
            <p:nvPr/>
          </p:nvPicPr>
          <p:blipFill rotWithShape="1">
            <a:blip r:embed="rId3">
              <a:alphaModFix amt="72000"/>
            </a:blip>
            <a:srcRect t="140" b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22"/>
            <p:cNvPicPr preferRelativeResize="0"/>
            <p:nvPr/>
          </p:nvPicPr>
          <p:blipFill rotWithShape="1">
            <a:blip r:embed="rId4">
              <a:alphaModFix amt="72000"/>
            </a:blip>
            <a:srcRect t="140" b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2" name="Google Shape;202;p22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2"/>
          <p:cNvSpPr txBox="1">
            <a:spLocks noGrp="1"/>
          </p:cNvSpPr>
          <p:nvPr>
            <p:ph type="body" idx="1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4">
  <p:cSld name="Quote - Violet_1_1_2_1_1_1">
    <p:bg>
      <p:bgPr>
        <a:solidFill>
          <a:schemeClr val="dk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8" name="Google Shape;208;p23"/>
          <p:cNvGrpSpPr/>
          <p:nvPr/>
        </p:nvGrpSpPr>
        <p:grpSpPr>
          <a:xfrm>
            <a:off x="4" y="1803975"/>
            <a:ext cx="9143996" cy="3339526"/>
            <a:chOff x="4" y="1803975"/>
            <a:chExt cx="9143996" cy="3339526"/>
          </a:xfrm>
        </p:grpSpPr>
        <p:pic>
          <p:nvPicPr>
            <p:cNvPr id="209" name="Google Shape;209;p23"/>
            <p:cNvPicPr preferRelativeResize="0"/>
            <p:nvPr/>
          </p:nvPicPr>
          <p:blipFill rotWithShape="1">
            <a:blip r:embed="rId2">
              <a:alphaModFix amt="57000"/>
            </a:blip>
            <a:srcRect l="32605" b="34254"/>
            <a:stretch/>
          </p:blipFill>
          <p:spPr>
            <a:xfrm flipH="1">
              <a:off x="5036874" y="1804050"/>
              <a:ext cx="4107126" cy="333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3"/>
            <p:cNvPicPr preferRelativeResize="0"/>
            <p:nvPr/>
          </p:nvPicPr>
          <p:blipFill rotWithShape="1">
            <a:blip r:embed="rId3">
              <a:alphaModFix amt="57000"/>
            </a:blip>
            <a:srcRect r="17499" b="34258"/>
            <a:stretch/>
          </p:blipFill>
          <p:spPr>
            <a:xfrm flipH="1">
              <a:off x="4" y="1803975"/>
              <a:ext cx="5027748" cy="3339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3"/>
          <p:cNvSpPr txBox="1">
            <a:spLocks noGrp="1"/>
          </p:cNvSpPr>
          <p:nvPr>
            <p:ph type="body" idx="1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5">
  <p:cSld name="Quote - Violet_1_1_2_1_1_1_1">
    <p:bg>
      <p:bgPr>
        <a:solidFill>
          <a:schemeClr val="dk2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 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4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" name="Google Shape;215;p24"/>
          <p:cNvGrpSpPr/>
          <p:nvPr/>
        </p:nvGrpSpPr>
        <p:grpSpPr>
          <a:xfrm rot="-5400000">
            <a:off x="5223451" y="1196298"/>
            <a:ext cx="5164226" cy="2747927"/>
            <a:chOff x="1155183" y="3814094"/>
            <a:chExt cx="3118306" cy="1659276"/>
          </a:xfrm>
        </p:grpSpPr>
        <p:pic>
          <p:nvPicPr>
            <p:cNvPr id="216" name="Google Shape;216;p24"/>
            <p:cNvPicPr preferRelativeResize="0"/>
            <p:nvPr/>
          </p:nvPicPr>
          <p:blipFill rotWithShape="1">
            <a:blip r:embed="rId2">
              <a:alphaModFix amt="58000"/>
            </a:blip>
            <a:srcRect l="37919" t="24706" b="10228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4"/>
            <p:cNvPicPr preferRelativeResize="0"/>
            <p:nvPr/>
          </p:nvPicPr>
          <p:blipFill rotWithShape="1">
            <a:blip r:embed="rId3">
              <a:alphaModFix amt="58000"/>
            </a:blip>
            <a:srcRect t="25270" r="59873" b="995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4"/>
          <p:cNvSpPr txBox="1">
            <a:spLocks noGrp="1"/>
          </p:cNvSpPr>
          <p:nvPr>
            <p:ph type="body" idx="1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Dark Blue">
  <p:cSld name="Quote - Violet_1_1_1">
    <p:bg>
      <p:bgPr>
        <a:solidFill>
          <a:schemeClr val="dk2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>
            <a:spLocks noGrp="1"/>
          </p:cNvSpPr>
          <p:nvPr>
            <p:ph type="body" idx="1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 b="1" cap="none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25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5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4" name="Google Shape;224;p25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25" name="Google Shape;225;p25"/>
            <p:cNvSpPr/>
            <p:nvPr/>
          </p:nvSpPr>
          <p:spPr>
            <a:xfrm>
              <a:off x="865451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25"/>
            <p:cNvSpPr/>
            <p:nvPr/>
          </p:nvSpPr>
          <p:spPr>
            <a:xfrm>
              <a:off x="2693163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25"/>
          <p:cNvSpPr txBox="1">
            <a:spLocks noGrp="1"/>
          </p:cNvSpPr>
          <p:nvPr>
            <p:ph type="subTitle" idx="2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 b="1">
                <a:solidFill>
                  <a:srgbClr val="FFFFFF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White">
  <p:cSld name="Quote - Violet_1_1_1_3">
    <p:bg>
      <p:bgPr>
        <a:solidFill>
          <a:schemeClr val="lt1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>
            <a:spLocks noGrp="1"/>
          </p:cNvSpPr>
          <p:nvPr>
            <p:ph type="body" idx="1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 b="1" cap="none">
                <a:solidFill>
                  <a:schemeClr val="dk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30" name="Google Shape;230;p26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31" name="Google Shape;231;p26"/>
            <p:cNvSpPr/>
            <p:nvPr/>
          </p:nvSpPr>
          <p:spPr>
            <a:xfrm>
              <a:off x="865451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2693163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26"/>
          <p:cNvSpPr txBox="1">
            <a:spLocks noGrp="1"/>
          </p:cNvSpPr>
          <p:nvPr>
            <p:ph type="subTitle" idx="2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 b="1"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 b="1"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26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6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Dark Blue w/ Photo">
  <p:cSld name="Quote - Violet_1_1_1_2">
    <p:bg>
      <p:bgPr>
        <a:solidFill>
          <a:schemeClr val="dk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>
            <a:spLocks noGrp="1"/>
          </p:cNvSpPr>
          <p:nvPr>
            <p:ph type="body" idx="1"/>
          </p:nvPr>
        </p:nvSpPr>
        <p:spPr>
          <a:xfrm>
            <a:off x="365750" y="1331975"/>
            <a:ext cx="6076500" cy="25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 b="1" cap="none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27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7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42" name="Google Shape;242;p27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43" name="Google Shape;243;p27"/>
            <p:cNvSpPr/>
            <p:nvPr/>
          </p:nvSpPr>
          <p:spPr>
            <a:xfrm>
              <a:off x="865451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27"/>
            <p:cNvSpPr/>
            <p:nvPr/>
          </p:nvSpPr>
          <p:spPr>
            <a:xfrm>
              <a:off x="2693163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27"/>
          <p:cNvSpPr txBox="1">
            <a:spLocks noGrp="1"/>
          </p:cNvSpPr>
          <p:nvPr>
            <p:ph type="subTitle" idx="2"/>
          </p:nvPr>
        </p:nvSpPr>
        <p:spPr>
          <a:xfrm>
            <a:off x="3017525" y="3999997"/>
            <a:ext cx="4206300" cy="68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 b="1">
                <a:solidFill>
                  <a:srgbClr val="FFFFFF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CUSTOM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/>
          <p:nvPr/>
        </p:nvSpPr>
        <p:spPr>
          <a:xfrm>
            <a:off x="0" y="1120200"/>
            <a:ext cx="9144000" cy="402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8"/>
          <p:cNvSpPr txBox="1">
            <a:spLocks noGrp="1"/>
          </p:cNvSpPr>
          <p:nvPr>
            <p:ph type="title"/>
          </p:nvPr>
        </p:nvSpPr>
        <p:spPr>
          <a:xfrm>
            <a:off x="366550" y="274323"/>
            <a:ext cx="8348400" cy="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9" name="Google Shape;249;p28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8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28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01">
  <p:cSld name="Thank You">
    <p:bg>
      <p:bgPr>
        <a:solidFill>
          <a:schemeClr val="accent1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/>
          <p:nvPr/>
        </p:nvSpPr>
        <p:spPr>
          <a:xfrm>
            <a:off x="457200" y="4444162"/>
            <a:ext cx="1444930" cy="330450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9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9"/>
          <p:cNvSpPr txBox="1">
            <a:spLocks noGrp="1"/>
          </p:cNvSpPr>
          <p:nvPr>
            <p:ph type="body" idx="1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02">
  <p:cSld name="Thank You_1">
    <p:bg>
      <p:bgPr>
        <a:solidFill>
          <a:schemeClr val="accent1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/>
          <p:nvPr/>
        </p:nvSpPr>
        <p:spPr>
          <a:xfrm>
            <a:off x="457200" y="4444162"/>
            <a:ext cx="1444930" cy="330450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0"/>
          <p:cNvSpPr txBox="1">
            <a:spLocks noGrp="1"/>
          </p:cNvSpPr>
          <p:nvPr>
            <p:ph type="body" idx="1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30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1" name="Google Shape;261;p30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262" name="Google Shape;262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30"/>
            <p:cNvPicPr preferRelativeResize="0"/>
            <p:nvPr/>
          </p:nvPicPr>
          <p:blipFill rotWithShape="1">
            <a:blip r:embed="rId3">
              <a:alphaModFix/>
            </a:blip>
            <a:srcRect t="140" b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30"/>
            <p:cNvPicPr preferRelativeResize="0"/>
            <p:nvPr/>
          </p:nvPicPr>
          <p:blipFill rotWithShape="1">
            <a:blip r:embed="rId4">
              <a:alphaModFix/>
            </a:blip>
            <a:srcRect t="140" b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footer only) 1">
  <p:cSld name="1_Blank (footer only) 8">
    <p:bg>
      <p:bgPr>
        <a:solidFill>
          <a:schemeClr val="lt1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31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" sz="600">
                <a:solidFill>
                  <a:srgbClr val="929292"/>
                </a:solidFill>
              </a:rPr>
              <a:t>6</a:t>
            </a:r>
            <a:r>
              <a:rPr lang="en"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 b="0" i="0" u="none" strike="noStrike" cap="non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66550" y="274323"/>
            <a:ext cx="8348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 b="1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2pPr>
            <a:lvl3pPr lvl="2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3pPr>
            <a:lvl4pPr lvl="3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4pPr>
            <a:lvl5pPr lvl="4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5pPr>
            <a:lvl6pPr lvl="5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6pPr>
            <a:lvl7pPr lvl="6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7pPr>
            <a:lvl8pPr lvl="7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8pPr>
            <a:lvl9pPr lvl="8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800" b="1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65750" y="1280150"/>
            <a:ext cx="8320200" cy="3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sz="1800" i="0" u="none" strike="noStrike" cap="none">
                <a:solidFill>
                  <a:srgbClr val="5B5B5B"/>
                </a:solidFill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sz="1800" i="0" u="none" strike="noStrike" cap="none">
                <a:solidFill>
                  <a:srgbClr val="5B5B5B"/>
                </a:solidFill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837300" y="-655600"/>
            <a:ext cx="5306700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8C8C8"/>
                </a:solidFill>
              </a:rPr>
              <a:t>SNOWFLAKE GSLIDES THEME 2025.01</a:t>
            </a:r>
            <a:endParaRPr sz="800">
              <a:solidFill>
                <a:srgbClr val="C8C8C8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403">
          <p15:clr>
            <a:srgbClr val="F26B43"/>
          </p15:clr>
        </p15:guide>
        <p15:guide id="3" orient="horz" pos="1620">
          <p15:clr>
            <a:srgbClr val="EA4335"/>
          </p15:clr>
        </p15:guide>
        <p15:guide id="4" orient="horz" pos="2952">
          <p15:clr>
            <a:srgbClr val="F26B43"/>
          </p15:clr>
        </p15:guide>
        <p15:guide id="5" pos="288">
          <p15:clr>
            <a:srgbClr val="EA4335"/>
          </p15:clr>
        </p15:guide>
        <p15:guide id="6" pos="5472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3"/>
          <p:cNvSpPr txBox="1">
            <a:spLocks noGrp="1"/>
          </p:cNvSpPr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3600" b="1"/>
              <a:t>박성우 · 박재성 · 오용석</a:t>
            </a:r>
            <a:endParaRPr/>
          </a:p>
        </p:txBody>
      </p:sp>
      <p:sp>
        <p:nvSpPr>
          <p:cNvPr id="276" name="Google Shape;276;p33"/>
          <p:cNvSpPr txBox="1">
            <a:spLocks noGrp="1"/>
          </p:cNvSpPr>
          <p:nvPr>
            <p:ph type="title" idx="2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400" b="0"/>
              <a:t>F4</a:t>
            </a:r>
            <a:endParaRPr/>
          </a:p>
        </p:txBody>
      </p:sp>
      <p:sp>
        <p:nvSpPr>
          <p:cNvPr id="277" name="Google Shape;277;p33"/>
          <p:cNvSpPr txBox="1">
            <a:spLocks noGrp="1"/>
          </p:cNvSpPr>
          <p:nvPr>
            <p:ph type="title" idx="3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/>
              <a:t>April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 txBox="1"/>
          <p:nvPr/>
        </p:nvSpPr>
        <p:spPr>
          <a:xfrm>
            <a:off x="320025" y="4470000"/>
            <a:ext cx="1811400" cy="504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6"/>
          <p:cNvSpPr/>
          <p:nvPr/>
        </p:nvSpPr>
        <p:spPr>
          <a:xfrm>
            <a:off x="234825" y="926651"/>
            <a:ext cx="1981800" cy="3500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0000" tIns="100000" rIns="100000" bIns="91425" anchor="ctr" anchorCtr="0">
            <a:noAutofit/>
          </a:bodyPr>
          <a:lstStyle/>
          <a:p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ko-KR" sz="850" b="1" dirty="0">
                <a:solidFill>
                  <a:srgbClr val="29B5E8"/>
                </a:solidFill>
              </a:rPr>
              <a:t>감에 의존하는 창업 의사결정</a:t>
            </a:r>
            <a:endParaRPr lang="en-US" altLang="ko-KR" sz="850" b="1" dirty="0">
              <a:solidFill>
                <a:srgbClr val="29B5E8"/>
              </a:solidFill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ko-KR" sz="750" dirty="0"/>
              <a:t>자영업자 10명 중 7명이 주관적 감에 의존해</a:t>
            </a:r>
            <a:r>
              <a:rPr lang="en-US" altLang="ko-KR" sz="750" dirty="0"/>
              <a:t> </a:t>
            </a:r>
            <a:r>
              <a:rPr lang="ko-KR" sz="750" dirty="0"/>
              <a:t>상권과 입지를 선정하고 있습니다.</a:t>
            </a:r>
            <a:endParaRPr lang="en-US" altLang="ko-KR" sz="750" dirty="0"/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ko-KR" sz="750" dirty="0"/>
              <a:t>객관적 데이터 기반 판단 도구가 부족한 상황입니다.</a:t>
            </a:r>
          </a:p>
          <a:p>
            <a:endParaRPr lang="ko-KR" sz="750" dirty="0"/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850" b="1" dirty="0">
                <a:solidFill>
                  <a:srgbClr val="29B5E8"/>
                </a:solidFill>
              </a:rPr>
              <a:t>과거 데이터에 머무른 분석</a:t>
            </a:r>
            <a:endParaRPr lang="en-US" altLang="ko-KR" sz="850" b="1" dirty="0">
              <a:solidFill>
                <a:srgbClr val="29B5E8"/>
              </a:solidFill>
            </a:endParaRP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750" dirty="0"/>
              <a:t>기존 상권 분석 서비스는 이미 지나간</a:t>
            </a:r>
            <a:r>
              <a:rPr lang="en-US" altLang="ko-KR" sz="750" dirty="0"/>
              <a:t> </a:t>
            </a:r>
            <a:r>
              <a:rPr lang="ko-KR" sz="750" dirty="0"/>
              <a:t>과거 데이터만 보여줄 뿐</a:t>
            </a:r>
            <a:r>
              <a:rPr lang="en-US" altLang="ko-KR" sz="750" dirty="0"/>
              <a:t> </a:t>
            </a:r>
            <a:r>
              <a:rPr lang="ko-KR" sz="750" dirty="0"/>
              <a:t>실시간 트렌드나 미래 변화를 반영하지</a:t>
            </a:r>
            <a:r>
              <a:rPr lang="en-US" altLang="ko-KR" sz="750" dirty="0"/>
              <a:t> </a:t>
            </a:r>
            <a:r>
              <a:rPr lang="ko-KR" sz="750" dirty="0"/>
              <a:t>못합니다.</a:t>
            </a:r>
          </a:p>
          <a:p>
            <a:endParaRPr lang="ko-KR" sz="750" dirty="0"/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850" b="1" dirty="0">
                <a:solidFill>
                  <a:srgbClr val="29B5E8"/>
                </a:solidFill>
              </a:rPr>
              <a:t>데이터는 있지만 흩어져 있다</a:t>
            </a:r>
            <a:endParaRPr lang="en-US" altLang="ko-KR" sz="850" b="1" dirty="0">
              <a:solidFill>
                <a:srgbClr val="29B5E8"/>
              </a:solidFill>
            </a:endParaRP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750" dirty="0"/>
              <a:t>유동인구, 카드매출, 부동산 시세,</a:t>
            </a:r>
            <a:r>
              <a:rPr lang="en-US" altLang="ko-KR" sz="750" dirty="0"/>
              <a:t> </a:t>
            </a:r>
            <a:r>
              <a:rPr lang="ko-KR" sz="750" dirty="0"/>
              <a:t>통신 데이터 등 유용한 정보는</a:t>
            </a:r>
            <a:r>
              <a:rPr lang="en-US" altLang="ko-KR" sz="750" dirty="0"/>
              <a:t> </a:t>
            </a:r>
            <a:r>
              <a:rPr lang="ko-KR" sz="750" dirty="0"/>
              <a:t>존재하지만</a:t>
            </a:r>
            <a:r>
              <a:rPr lang="en-US" altLang="ko-KR" sz="750" dirty="0"/>
              <a:t>, </a:t>
            </a:r>
            <a:r>
              <a:rPr lang="ko-KR" sz="750" dirty="0"/>
              <a:t>이를 하나로 엮어 분석하</a:t>
            </a:r>
            <a:r>
              <a:rPr lang="ko-KR" altLang="en-US" sz="750" dirty="0"/>
              <a:t>는 </a:t>
            </a:r>
            <a:r>
              <a:rPr lang="ko-KR" sz="750" dirty="0"/>
              <a:t>도구가 없습니다.</a:t>
            </a:r>
          </a:p>
        </p:txBody>
      </p:sp>
      <p:sp>
        <p:nvSpPr>
          <p:cNvPr id="297" name="Google Shape;297;p36"/>
          <p:cNvSpPr txBox="1"/>
          <p:nvPr/>
        </p:nvSpPr>
        <p:spPr>
          <a:xfrm>
            <a:off x="234825" y="526450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8" name="Google Shape;298;p36"/>
          <p:cNvSpPr txBox="1"/>
          <p:nvPr/>
        </p:nvSpPr>
        <p:spPr>
          <a:xfrm>
            <a:off x="2571985" y="4470000"/>
            <a:ext cx="1811400" cy="504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6"/>
          <p:cNvSpPr/>
          <p:nvPr/>
        </p:nvSpPr>
        <p:spPr>
          <a:xfrm>
            <a:off x="2486785" y="926651"/>
            <a:ext cx="1981800" cy="3500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0000" tIns="100000" rIns="100000" bIns="91425" anchor="ctr" anchorCtr="0">
            <a:noAutofit/>
          </a:bodyPr>
          <a:lstStyle/>
          <a:p>
            <a:endParaRPr dirty="0"/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ko-KR" sz="850" b="1" dirty="0">
                <a:solidFill>
                  <a:srgbClr val="29B5E8"/>
                </a:solidFill>
              </a:rPr>
              <a:t>우리의 가설</a:t>
            </a:r>
            <a:endParaRPr lang="en-US" altLang="ko-KR" sz="850" b="1" dirty="0">
              <a:solidFill>
                <a:srgbClr val="29B5E8"/>
              </a:solidFill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ko-KR" sz="750" dirty="0" err="1"/>
              <a:t>유동인구·카드매출·부동산·통신</a:t>
            </a:r>
            <a:r>
              <a:rPr lang="ko-KR" sz="750" dirty="0"/>
              <a:t> 데이터를</a:t>
            </a:r>
            <a:r>
              <a:rPr lang="en-US" altLang="ko-KR" sz="750" dirty="0"/>
              <a:t> </a:t>
            </a:r>
            <a:r>
              <a:rPr lang="ko-KR" sz="750" dirty="0"/>
              <a:t>교차 분석하면, 상권 변화의 선행</a:t>
            </a:r>
            <a:r>
              <a:rPr lang="en-US" altLang="ko-KR" sz="750" dirty="0"/>
              <a:t> </a:t>
            </a:r>
            <a:r>
              <a:rPr lang="ko-KR" sz="750" dirty="0"/>
              <a:t>시그널을</a:t>
            </a:r>
            <a:r>
              <a:rPr lang="en-US" altLang="ko-KR" sz="750" dirty="0"/>
              <a:t> </a:t>
            </a:r>
            <a:r>
              <a:rPr lang="ko-KR" sz="750" dirty="0"/>
              <a:t>미리 포착할 수 있습니다.</a:t>
            </a:r>
          </a:p>
          <a:p>
            <a:endParaRPr lang="ko-KR" sz="750" dirty="0"/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850" b="1" dirty="0" err="1">
                <a:solidFill>
                  <a:srgbClr val="29B5E8"/>
                </a:solidFill>
              </a:rPr>
              <a:t>핫플</a:t>
            </a:r>
            <a:r>
              <a:rPr lang="ko-KR" sz="850" b="1" dirty="0">
                <a:solidFill>
                  <a:srgbClr val="29B5E8"/>
                </a:solidFill>
              </a:rPr>
              <a:t> </a:t>
            </a:r>
            <a:r>
              <a:rPr lang="ko-KR" sz="850" b="1" dirty="0" err="1">
                <a:solidFill>
                  <a:srgbClr val="29B5E8"/>
                </a:solidFill>
              </a:rPr>
              <a:t>점수란</a:t>
            </a:r>
            <a:r>
              <a:rPr lang="ko-KR" sz="850" b="1" dirty="0">
                <a:solidFill>
                  <a:srgbClr val="29B5E8"/>
                </a:solidFill>
              </a:rPr>
              <a:t>?</a:t>
            </a:r>
            <a:endParaRPr lang="en-US" altLang="ko-KR" sz="850" b="1" dirty="0">
              <a:solidFill>
                <a:srgbClr val="29B5E8"/>
              </a:solidFill>
            </a:endParaRP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750" dirty="0"/>
              <a:t>5가지 지표의 전월 대비 변동률을</a:t>
            </a:r>
            <a:r>
              <a:rPr lang="en-US" altLang="ko-KR" sz="750" dirty="0"/>
              <a:t> </a:t>
            </a:r>
            <a:r>
              <a:rPr lang="ko-KR" altLang="en-US" sz="750" dirty="0"/>
              <a:t>가</a:t>
            </a:r>
            <a:r>
              <a:rPr lang="ko-KR" sz="750" dirty="0"/>
              <a:t>중 합산한 상권 활력 지수입니다.</a:t>
            </a:r>
            <a:endParaRPr lang="en-US" altLang="ko-KR" sz="750" dirty="0"/>
          </a:p>
          <a:p>
            <a:pPr marL="171450" indent="-171450">
              <a:spcBef>
                <a:spcPts val="4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sz="700" dirty="0">
                <a:solidFill>
                  <a:srgbClr val="555555"/>
                </a:solidFill>
              </a:rPr>
              <a:t>방문인구 변동률 25%</a:t>
            </a:r>
            <a:endParaRPr lang="en-US" altLang="ko-KR" sz="700" dirty="0">
              <a:solidFill>
                <a:srgbClr val="555555"/>
              </a:solidFill>
            </a:endParaRPr>
          </a:p>
          <a:p>
            <a:pPr marL="171450" indent="-171450">
              <a:spcBef>
                <a:spcPts val="4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sz="700" dirty="0" err="1">
                <a:solidFill>
                  <a:srgbClr val="555555"/>
                </a:solidFill>
              </a:rPr>
              <a:t>카페·식음료</a:t>
            </a:r>
            <a:r>
              <a:rPr lang="ko-KR" sz="700" dirty="0">
                <a:solidFill>
                  <a:srgbClr val="555555"/>
                </a:solidFill>
              </a:rPr>
              <a:t> 매출 변동률 20%</a:t>
            </a:r>
            <a:endParaRPr lang="en-US" altLang="ko-KR" sz="700" dirty="0">
              <a:solidFill>
                <a:srgbClr val="555555"/>
              </a:solidFill>
            </a:endParaRPr>
          </a:p>
          <a:p>
            <a:pPr marL="171450" indent="-171450">
              <a:spcBef>
                <a:spcPts val="4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sz="700" dirty="0">
                <a:solidFill>
                  <a:srgbClr val="555555"/>
                </a:solidFill>
              </a:rPr>
              <a:t>총 유동인구 변동률 20%</a:t>
            </a:r>
            <a:endParaRPr lang="en-US" altLang="ko-KR" sz="700" dirty="0">
              <a:solidFill>
                <a:srgbClr val="555555"/>
              </a:solidFill>
            </a:endParaRPr>
          </a:p>
          <a:p>
            <a:pPr marL="171450" indent="-171450">
              <a:spcBef>
                <a:spcPts val="4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sz="700" dirty="0">
                <a:solidFill>
                  <a:srgbClr val="555555"/>
                </a:solidFill>
              </a:rPr>
              <a:t>아파트 매매가 변동률 20%</a:t>
            </a:r>
            <a:endParaRPr lang="en-US" altLang="ko-KR" sz="700" dirty="0">
              <a:solidFill>
                <a:srgbClr val="555555"/>
              </a:solidFill>
            </a:endParaRPr>
          </a:p>
          <a:p>
            <a:pPr marL="171450" indent="-171450">
              <a:spcBef>
                <a:spcPts val="4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sz="700" dirty="0">
                <a:solidFill>
                  <a:srgbClr val="555555"/>
                </a:solidFill>
              </a:rPr>
              <a:t>인터넷 신규설치 변동률 15%</a:t>
            </a:r>
          </a:p>
          <a:p>
            <a:endParaRPr lang="ko-KR" sz="700" dirty="0">
              <a:solidFill>
                <a:srgbClr val="555555"/>
              </a:solidFill>
            </a:endParaRP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850" b="1" dirty="0">
                <a:solidFill>
                  <a:srgbClr val="29B5E8"/>
                </a:solidFill>
              </a:rPr>
              <a:t>분석 규모</a:t>
            </a:r>
            <a:endParaRPr lang="en-US" altLang="ko-KR" sz="850" b="1" dirty="0">
              <a:solidFill>
                <a:srgbClr val="29B5E8"/>
              </a:solidFill>
            </a:endParaRP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750" dirty="0"/>
              <a:t>서울 3개 구, 118개 동네의 59개월 데이터</a:t>
            </a:r>
            <a:endParaRPr lang="en-US" altLang="ko-KR" sz="750" dirty="0"/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750" dirty="0"/>
              <a:t>총 6,962건의 월별 시그널을 분석합니다.</a:t>
            </a:r>
          </a:p>
        </p:txBody>
      </p:sp>
      <p:sp>
        <p:nvSpPr>
          <p:cNvPr id="301" name="Google Shape;301;p36"/>
          <p:cNvSpPr txBox="1"/>
          <p:nvPr/>
        </p:nvSpPr>
        <p:spPr>
          <a:xfrm>
            <a:off x="2486785" y="526450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2" name="Google Shape;302;p36"/>
          <p:cNvSpPr txBox="1"/>
          <p:nvPr/>
        </p:nvSpPr>
        <p:spPr>
          <a:xfrm>
            <a:off x="4791746" y="4470000"/>
            <a:ext cx="1811400" cy="504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6"/>
          <p:cNvSpPr/>
          <p:nvPr/>
        </p:nvSpPr>
        <p:spPr>
          <a:xfrm>
            <a:off x="4706546" y="926651"/>
            <a:ext cx="1981800" cy="3500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0000" tIns="100000" rIns="100000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262626"/>
              </a:solidFill>
              <a:latin typeface="Lato" panose="020F0502020204030203" pitchFamily="34" charset="0"/>
              <a:ea typeface="Noto Sans KR"/>
              <a:cs typeface="Noto Sans KR"/>
              <a:sym typeface="Noto Sans KR"/>
            </a:endParaRPr>
          </a:p>
        </p:txBody>
      </p:sp>
      <p:sp>
        <p:nvSpPr>
          <p:cNvPr id="305" name="Google Shape;305;p36"/>
          <p:cNvSpPr txBox="1"/>
          <p:nvPr/>
        </p:nvSpPr>
        <p:spPr>
          <a:xfrm>
            <a:off x="4706546" y="525021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6" name="Google Shape;306;p36"/>
          <p:cNvSpPr txBox="1"/>
          <p:nvPr/>
        </p:nvSpPr>
        <p:spPr>
          <a:xfrm>
            <a:off x="7043706" y="4470000"/>
            <a:ext cx="1811400" cy="504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6"/>
          <p:cNvSpPr/>
          <p:nvPr/>
        </p:nvSpPr>
        <p:spPr>
          <a:xfrm>
            <a:off x="6958506" y="926651"/>
            <a:ext cx="1981800" cy="3500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0000" tIns="100000" rIns="100000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262626"/>
              </a:solidFill>
              <a:latin typeface="Lato" panose="020F0502020204030203" pitchFamily="34" charset="0"/>
              <a:ea typeface="Noto Sans KR"/>
              <a:cs typeface="Noto Sans KR"/>
              <a:sym typeface="Noto Sans KR"/>
            </a:endParaRPr>
          </a:p>
        </p:txBody>
      </p:sp>
      <p:sp>
        <p:nvSpPr>
          <p:cNvPr id="309" name="Google Shape;309;p36"/>
          <p:cNvSpPr txBox="1"/>
          <p:nvPr/>
        </p:nvSpPr>
        <p:spPr>
          <a:xfrm>
            <a:off x="6958506" y="525021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0" name="Rounded Rectangle 309"/>
          <p:cNvSpPr/>
          <p:nvPr/>
        </p:nvSpPr>
        <p:spPr>
          <a:xfrm>
            <a:off x="325725" y="503999"/>
            <a:ext cx="1800000" cy="288000"/>
          </a:xfrm>
          <a:prstGeom prst="roundRect">
            <a:avLst>
              <a:gd name="adj" fmla="val 30000"/>
            </a:avLst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문제 정의</a:t>
            </a:r>
          </a:p>
        </p:txBody>
      </p:sp>
      <p:sp>
        <p:nvSpPr>
          <p:cNvPr id="311" name="Rounded Rectangle 310"/>
          <p:cNvSpPr/>
          <p:nvPr/>
        </p:nvSpPr>
        <p:spPr>
          <a:xfrm>
            <a:off x="2577685" y="503999"/>
            <a:ext cx="1800000" cy="288000"/>
          </a:xfrm>
          <a:prstGeom prst="roundRect">
            <a:avLst>
              <a:gd name="adj" fmla="val 30000"/>
            </a:avLst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가설</a:t>
            </a:r>
          </a:p>
        </p:txBody>
      </p:sp>
      <p:sp>
        <p:nvSpPr>
          <p:cNvPr id="312" name="Rounded Rectangle 311"/>
          <p:cNvSpPr/>
          <p:nvPr/>
        </p:nvSpPr>
        <p:spPr>
          <a:xfrm>
            <a:off x="4797446" y="503999"/>
            <a:ext cx="1800000" cy="288000"/>
          </a:xfrm>
          <a:prstGeom prst="roundRect">
            <a:avLst>
              <a:gd name="adj" fmla="val 30000"/>
            </a:avLst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아키텍처</a:t>
            </a:r>
          </a:p>
        </p:txBody>
      </p:sp>
      <p:sp>
        <p:nvSpPr>
          <p:cNvPr id="313" name="Rounded Rectangle 312"/>
          <p:cNvSpPr/>
          <p:nvPr/>
        </p:nvSpPr>
        <p:spPr>
          <a:xfrm>
            <a:off x="7049406" y="503999"/>
            <a:ext cx="1800000" cy="288000"/>
          </a:xfrm>
          <a:prstGeom prst="roundRect">
            <a:avLst>
              <a:gd name="adj" fmla="val 30000"/>
            </a:avLst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기술 스택</a:t>
            </a:r>
          </a:p>
        </p:txBody>
      </p:sp>
      <p:sp>
        <p:nvSpPr>
          <p:cNvPr id="314" name="Rounded Rectangle 313"/>
          <p:cNvSpPr/>
          <p:nvPr/>
        </p:nvSpPr>
        <p:spPr>
          <a:xfrm>
            <a:off x="4797446" y="1205477"/>
            <a:ext cx="1800000" cy="540000"/>
          </a:xfrm>
          <a:prstGeom prst="roundRect">
            <a:avLst/>
          </a:prstGeom>
          <a:solidFill>
            <a:srgbClr val="29B5E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FFFFFF"/>
                </a:solidFill>
              </a:rPr>
              <a:t>Snowflake Marketplace</a:t>
            </a:r>
          </a:p>
          <a:p>
            <a:pPr algn="ctr"/>
            <a:r>
              <a:rPr sz="600" dirty="0">
                <a:solidFill>
                  <a:srgbClr val="DDDDDD"/>
                </a:solidFill>
              </a:rPr>
              <a:t>SPH · </a:t>
            </a:r>
            <a:r>
              <a:rPr sz="600" dirty="0" err="1">
                <a:solidFill>
                  <a:srgbClr val="DDDDDD"/>
                </a:solidFill>
              </a:rPr>
              <a:t>리치고</a:t>
            </a:r>
            <a:r>
              <a:rPr sz="600" dirty="0">
                <a:solidFill>
                  <a:srgbClr val="DDDDDD"/>
                </a:solidFill>
              </a:rPr>
              <a:t> · </a:t>
            </a:r>
            <a:r>
              <a:rPr sz="600" dirty="0" err="1">
                <a:solidFill>
                  <a:srgbClr val="DDDDDD"/>
                </a:solidFill>
              </a:rPr>
              <a:t>아정당</a:t>
            </a:r>
            <a:r>
              <a:rPr sz="600" dirty="0">
                <a:solidFill>
                  <a:srgbClr val="DDDDDD"/>
                </a:solidFill>
              </a:rPr>
              <a:t> (5개)</a:t>
            </a:r>
          </a:p>
        </p:txBody>
      </p:sp>
      <p:sp>
        <p:nvSpPr>
          <p:cNvPr id="315" name="Down Arrow 314"/>
          <p:cNvSpPr/>
          <p:nvPr/>
        </p:nvSpPr>
        <p:spPr>
          <a:xfrm>
            <a:off x="5607446" y="1781477"/>
            <a:ext cx="180000" cy="180000"/>
          </a:xfrm>
          <a:prstGeom prst="down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Rounded Rectangle 315"/>
          <p:cNvSpPr/>
          <p:nvPr/>
        </p:nvSpPr>
        <p:spPr>
          <a:xfrm>
            <a:off x="4797446" y="1997477"/>
            <a:ext cx="1800000" cy="540000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rgbClr val="333333"/>
                </a:solidFill>
              </a:rPr>
              <a:t>Snowflake SQL</a:t>
            </a:r>
          </a:p>
          <a:p>
            <a:pPr algn="ctr"/>
            <a:r>
              <a:rPr sz="600" dirty="0" err="1">
                <a:solidFill>
                  <a:srgbClr val="666666"/>
                </a:solidFill>
              </a:rPr>
              <a:t>전처리</a:t>
            </a:r>
            <a:r>
              <a:rPr sz="600" dirty="0">
                <a:solidFill>
                  <a:srgbClr val="666666"/>
                </a:solidFill>
              </a:rPr>
              <a:t> + </a:t>
            </a:r>
            <a:r>
              <a:rPr sz="600" dirty="0" err="1">
                <a:solidFill>
                  <a:srgbClr val="666666"/>
                </a:solidFill>
              </a:rPr>
              <a:t>핫플</a:t>
            </a:r>
            <a:r>
              <a:rPr sz="600" dirty="0">
                <a:solidFill>
                  <a:srgbClr val="666666"/>
                </a:solidFill>
              </a:rPr>
              <a:t> </a:t>
            </a:r>
            <a:r>
              <a:rPr sz="600" dirty="0" err="1">
                <a:solidFill>
                  <a:srgbClr val="666666"/>
                </a:solidFill>
              </a:rPr>
              <a:t>점수</a:t>
            </a:r>
            <a:r>
              <a:rPr sz="600" dirty="0">
                <a:solidFill>
                  <a:srgbClr val="666666"/>
                </a:solidFill>
              </a:rPr>
              <a:t> </a:t>
            </a:r>
            <a:r>
              <a:rPr sz="600" dirty="0" err="1">
                <a:solidFill>
                  <a:srgbClr val="666666"/>
                </a:solidFill>
              </a:rPr>
              <a:t>실시간</a:t>
            </a:r>
            <a:r>
              <a:rPr sz="600" dirty="0">
                <a:solidFill>
                  <a:srgbClr val="666666"/>
                </a:solidFill>
              </a:rPr>
              <a:t> </a:t>
            </a:r>
            <a:r>
              <a:rPr sz="600" dirty="0" err="1">
                <a:solidFill>
                  <a:srgbClr val="666666"/>
                </a:solidFill>
              </a:rPr>
              <a:t>계산</a:t>
            </a:r>
            <a:endParaRPr sz="600" dirty="0">
              <a:solidFill>
                <a:srgbClr val="666666"/>
              </a:solidFill>
            </a:endParaRPr>
          </a:p>
        </p:txBody>
      </p:sp>
      <p:sp>
        <p:nvSpPr>
          <p:cNvPr id="317" name="Down Arrow 316"/>
          <p:cNvSpPr/>
          <p:nvPr/>
        </p:nvSpPr>
        <p:spPr>
          <a:xfrm>
            <a:off x="5607446" y="2573477"/>
            <a:ext cx="180000" cy="180000"/>
          </a:xfrm>
          <a:prstGeom prst="down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Rounded Rectangle 317"/>
          <p:cNvSpPr/>
          <p:nvPr/>
        </p:nvSpPr>
        <p:spPr>
          <a:xfrm>
            <a:off x="4797446" y="2789477"/>
            <a:ext cx="1800000" cy="540000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333333"/>
                </a:solidFill>
              </a:rPr>
              <a:t>Cortex AI (GPT-5.4)</a:t>
            </a:r>
          </a:p>
          <a:p>
            <a:pPr algn="ctr"/>
            <a:r>
              <a:rPr sz="600">
                <a:solidFill>
                  <a:srgbClr val="666666"/>
                </a:solidFill>
              </a:rPr>
              <a:t>자연어 → SQL → 인사이트</a:t>
            </a:r>
          </a:p>
        </p:txBody>
      </p:sp>
      <p:sp>
        <p:nvSpPr>
          <p:cNvPr id="319" name="Down Arrow 318"/>
          <p:cNvSpPr/>
          <p:nvPr/>
        </p:nvSpPr>
        <p:spPr>
          <a:xfrm>
            <a:off x="5598000" y="3365477"/>
            <a:ext cx="180000" cy="180000"/>
          </a:xfrm>
          <a:prstGeom prst="down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Rounded Rectangle 319"/>
          <p:cNvSpPr/>
          <p:nvPr/>
        </p:nvSpPr>
        <p:spPr>
          <a:xfrm>
            <a:off x="4788000" y="3581477"/>
            <a:ext cx="1800000" cy="540000"/>
          </a:xfrm>
          <a:prstGeom prst="roundRect">
            <a:avLst/>
          </a:prstGeom>
          <a:solidFill>
            <a:srgbClr val="29B5E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Streamlit in Snowflake</a:t>
            </a:r>
          </a:p>
          <a:p>
            <a:pPr algn="ctr"/>
            <a:r>
              <a:rPr sz="600">
                <a:solidFill>
                  <a:srgbClr val="DDDDDD"/>
                </a:solidFill>
              </a:rPr>
              <a:t>피드 / AI에이전트 / 디지털트윈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7271999" y="1891377"/>
            <a:ext cx="1548000" cy="28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800" b="1">
                <a:solidFill/>
              </a:rPr>
              <a:t>Snowflake Marketplace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7271999" y="2323377"/>
            <a:ext cx="1548000" cy="28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800" b="1">
                <a:solidFill/>
              </a:rPr>
              <a:t>Cortex AI (GPT-5.4)</a:t>
            </a:r>
          </a:p>
        </p:txBody>
      </p:sp>
      <p:pic>
        <p:nvPicPr>
          <p:cNvPr id="325" name="Picture 324" descr="stream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000" y="2755377"/>
            <a:ext cx="288000" cy="288000"/>
          </a:xfrm>
          <a:prstGeom prst="rect">
            <a:avLst/>
          </a:prstGeom>
        </p:spPr>
      </p:pic>
      <p:sp>
        <p:nvSpPr>
          <p:cNvPr id="326" name="TextBox 325"/>
          <p:cNvSpPr txBox="1"/>
          <p:nvPr/>
        </p:nvSpPr>
        <p:spPr>
          <a:xfrm>
            <a:off x="7380000" y="2755377"/>
            <a:ext cx="1440000" cy="28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800" b="1">
                <a:solidFill/>
              </a:rPr>
              <a:t>Streamlit</a:t>
            </a:r>
          </a:p>
        </p:txBody>
      </p:sp>
      <p:pic>
        <p:nvPicPr>
          <p:cNvPr id="327" name="Picture 326" descr="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000" y="3187377"/>
            <a:ext cx="288000" cy="288000"/>
          </a:xfrm>
          <a:prstGeom prst="rect">
            <a:avLst/>
          </a:prstGeom>
        </p:spPr>
      </p:pic>
      <p:sp>
        <p:nvSpPr>
          <p:cNvPr id="328" name="TextBox 327"/>
          <p:cNvSpPr txBox="1"/>
          <p:nvPr/>
        </p:nvSpPr>
        <p:spPr>
          <a:xfrm>
            <a:off x="7380000" y="3187377"/>
            <a:ext cx="1440000" cy="28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800" b="1" dirty="0">
                <a:solidFill/>
              </a:rPr>
              <a:t>Python 3.11</a:t>
            </a:r>
          </a:p>
        </p:txBody>
      </p:sp>
      <p:pic>
        <p:nvPicPr>
          <p:cNvPr id="329" name="Picture 328" descr="_sf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910377"/>
            <a:ext cx="250000" cy="250000"/>
          </a:xfrm>
          <a:prstGeom prst="rect">
            <a:avLst/>
          </a:prstGeom>
        </p:spPr>
      </p:pic>
      <p:pic>
        <p:nvPicPr>
          <p:cNvPr id="330" name="Picture 3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2342377"/>
            <a:ext cx="250000" cy="25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7"/>
          <p:cNvSpPr txBox="1"/>
          <p:nvPr/>
        </p:nvSpPr>
        <p:spPr>
          <a:xfrm>
            <a:off x="363048" y="2108950"/>
            <a:ext cx="81807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7"/>
          <p:cNvSpPr/>
          <p:nvPr/>
        </p:nvSpPr>
        <p:spPr>
          <a:xfrm>
            <a:off x="234825" y="926650"/>
            <a:ext cx="8488200" cy="1182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0000" tIns="100000" rIns="100000" bIns="91425" anchor="ctr" anchorCtr="0">
            <a:noAutofit/>
          </a:bodyPr>
          <a:lstStyle/>
          <a:p>
            <a:pPr>
              <a:spcBef>
                <a:spcPts val="100"/>
              </a:spcBef>
              <a:spcAft>
                <a:spcPts val="80"/>
              </a:spcAft>
            </a:pPr>
            <a:r>
              <a:rPr lang="ko-KR" sz="800" b="1">
                <a:solidFill>
                  <a:srgbClr val="29B5E8"/>
                </a:solidFill>
              </a:rPr>
              <a:t>핫플 점수로 뜨는 동네를 자동 탐지합니다</a:t>
            </a:r>
          </a:p>
          <a:p>
            <a:pPr marL="180000" indent="0">
              <a:spcBef>
                <a:spcPts val="30"/>
              </a:spcBef>
              <a:spcAft>
                <a:spcPts val="30"/>
              </a:spcAft>
            </a:pPr>
            <a:r>
              <a:rPr lang="ko-KR" sz="700"/>
              <a:t>5가지 선행지표를 가중 합산하여 매월 핫플 점수를 산출하고, 점수가 급등하거나 급락한 동네를 자동으로 찾아냅니다.</a:t>
            </a:r>
          </a:p>
          <a:p>
            <a:endParaRPr lang="ko-KR" sz="700"/>
          </a:p>
          <a:p>
            <a:pPr>
              <a:spcBef>
                <a:spcPts val="350"/>
              </a:spcBef>
              <a:spcAft>
                <a:spcPts val="80"/>
              </a:spcAft>
            </a:pPr>
            <a:r>
              <a:rPr lang="ko-KR" sz="800" b="1">
                <a:solidFill>
                  <a:srgbClr val="29B5E8"/>
                </a:solidFill>
              </a:rPr>
              <a:t>"왜 올랐을까?" — 변동 원인을 자동으로 설명합니다</a:t>
            </a:r>
          </a:p>
          <a:p>
            <a:pPr marL="180000" indent="0">
              <a:spcBef>
                <a:spcPts val="30"/>
              </a:spcBef>
              <a:spcAft>
                <a:spcPts val="30"/>
              </a:spcAft>
            </a:pPr>
            <a:r>
              <a:rPr lang="ko-KR" sz="700"/>
              <a:t>단순 순위가 아니라, "유동인구 -5.3%, 카드매출 +92.8%"처럼 구체적 수치와 함께 변동 이유를 알려줍니다.</a:t>
            </a:r>
          </a:p>
          <a:p>
            <a:endParaRPr lang="ko-KR" sz="700"/>
          </a:p>
          <a:p>
            <a:pPr>
              <a:spcBef>
                <a:spcPts val="350"/>
              </a:spcBef>
              <a:spcAft>
                <a:spcPts val="80"/>
              </a:spcAft>
            </a:pPr>
            <a:r>
              <a:rPr lang="ko-KR" sz="800" b="1">
                <a:solidFill>
                  <a:srgbClr val="29B5E8"/>
                </a:solidFill>
              </a:rPr>
              <a:t>3개월 후를 내다보는 예측 시그널</a:t>
            </a:r>
          </a:p>
          <a:p>
            <a:pPr marL="180000" indent="0">
              <a:spcBef>
                <a:spcPts val="30"/>
              </a:spcBef>
              <a:spcAft>
                <a:spcPts val="30"/>
              </a:spcAft>
            </a:pPr>
            <a:r>
              <a:rPr lang="ko-KR" sz="700"/>
              <a:t>방문인구 변화율과 카드매출 변화율을 종합하여, 향후 상승·하락·관찰이 필요한 동네를 미리 분류합니다.</a:t>
            </a:r>
          </a:p>
        </p:txBody>
      </p:sp>
      <p:sp>
        <p:nvSpPr>
          <p:cNvPr id="318" name="Google Shape;318;p37"/>
          <p:cNvSpPr txBox="1"/>
          <p:nvPr/>
        </p:nvSpPr>
        <p:spPr>
          <a:xfrm>
            <a:off x="234049" y="71750"/>
            <a:ext cx="6455347" cy="65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000" tIns="100000" rIns="100000" bIns="91425" anchor="t" anchorCtr="0">
            <a:spAutoFit/>
          </a:bodyPr>
          <a:lstStyle/>
          <a:p>
            <a:r>
              <a:rPr sz="1800" b="1"/>
              <a:t>인사이트 피드 — 다음에 뜰 동네 예측</a:t>
            </a:r>
          </a:p>
        </p:txBody>
      </p:sp>
      <p:sp>
        <p:nvSpPr>
          <p:cNvPr id="319" name="Google Shape;319;p37"/>
          <p:cNvSpPr txBox="1"/>
          <p:nvPr/>
        </p:nvSpPr>
        <p:spPr>
          <a:xfrm>
            <a:off x="4854874" y="4657500"/>
            <a:ext cx="37500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7"/>
          <p:cNvSpPr/>
          <p:nvPr/>
        </p:nvSpPr>
        <p:spPr>
          <a:xfrm>
            <a:off x="4796100" y="2647075"/>
            <a:ext cx="3890700" cy="2010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0000" tIns="100000" rIns="100000" bIns="91425" anchor="ctr" anchorCtr="0"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ko-KR" sz="850" b="1">
                <a:solidFill>
                  <a:srgbClr val="29B5E8"/>
                </a:solidFill>
              </a:rPr>
              <a:t>Phase 1 — 데이터 범위 확장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현재 서울 3개 구에서 수도권,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나아가 전국 35,000개+ 법정동으로 확대</a:t>
            </a:r>
          </a:p>
          <a:p>
            <a:endParaRPr lang="ko-KR" sz="750"/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850" b="1">
                <a:solidFill>
                  <a:srgbClr val="29B5E8"/>
                </a:solidFill>
              </a:rPr>
              <a:t>Phase 2 — ML 기반 예측 고도화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현재 변동률 기반 점수에서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Snowpark ML 시계열 예측 모델로 업그레이드</a:t>
            </a:r>
          </a:p>
          <a:p>
            <a:endParaRPr lang="ko-KR" sz="750"/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850" b="1">
                <a:solidFill>
                  <a:srgbClr val="29B5E8"/>
                </a:solidFill>
              </a:rPr>
              <a:t>Phase 3 — 실시간 데이터 연동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배달앱 주문량, SNS 언급량 등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실시간 외부 데이터를 추가로 반영합니다.</a:t>
            </a:r>
          </a:p>
        </p:txBody>
      </p:sp>
      <p:sp>
        <p:nvSpPr>
          <p:cNvPr id="323" name="Google Shape;323;p37"/>
          <p:cNvSpPr txBox="1"/>
          <p:nvPr/>
        </p:nvSpPr>
        <p:spPr>
          <a:xfrm>
            <a:off x="380642" y="4657513"/>
            <a:ext cx="37500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7"/>
          <p:cNvSpPr/>
          <p:nvPr/>
        </p:nvSpPr>
        <p:spPr>
          <a:xfrm>
            <a:off x="321868" y="2647088"/>
            <a:ext cx="3890700" cy="2010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0000" tIns="100000" rIns="100000" bIns="91425" anchor="ctr" anchorCtr="0"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ko-KR" sz="850" b="1">
                <a:solidFill>
                  <a:srgbClr val="29B5E8"/>
                </a:solidFill>
              </a:rPr>
              <a:t>데이터 기반 입지 판단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"어디에 가게를 열까?"라는 질문에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객관적인 수치 근거를 제시합니다.</a:t>
            </a:r>
          </a:p>
          <a:p>
            <a:endParaRPr lang="ko-KR" sz="750"/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850" b="1">
                <a:solidFill>
                  <a:srgbClr val="29B5E8"/>
                </a:solidFill>
              </a:rPr>
              <a:t>상권 변화 조기 포착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월별 시그널 추적을 통해 상권의 성장과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쇠퇴를 6~12개월 전에 감지할 수 있습니다.</a:t>
            </a:r>
          </a:p>
          <a:p>
            <a:endParaRPr lang="ko-KR" sz="750"/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850" b="1">
                <a:solidFill>
                  <a:srgbClr val="29B5E8"/>
                </a:solidFill>
              </a:rPr>
              <a:t>숨겨진 전입 수요 발견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통신사 인터넷 신규설치 데이터로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새로 이사 오는 사람들의 수요를 포착합니다.</a:t>
            </a:r>
          </a:p>
        </p:txBody>
      </p:sp>
      <p:sp>
        <p:nvSpPr>
          <p:cNvPr id="325" name="Rounded Rectangle 324"/>
          <p:cNvSpPr/>
          <p:nvPr/>
        </p:nvSpPr>
        <p:spPr>
          <a:xfrm>
            <a:off x="234825" y="556000"/>
            <a:ext cx="2160000" cy="288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핵심 분석 인사이트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234825" y="2300000"/>
            <a:ext cx="1440000" cy="288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기대 효과</a:t>
            </a:r>
          </a:p>
        </p:txBody>
      </p:sp>
      <p:sp>
        <p:nvSpPr>
          <p:cNvPr id="327" name="Rounded Rectangle 326"/>
          <p:cNvSpPr/>
          <p:nvPr/>
        </p:nvSpPr>
        <p:spPr>
          <a:xfrm>
            <a:off x="4706000" y="2300000"/>
            <a:ext cx="2160000" cy="288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향후 실행 방안 제안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8"/>
          <p:cNvSpPr txBox="1"/>
          <p:nvPr/>
        </p:nvSpPr>
        <p:spPr>
          <a:xfrm>
            <a:off x="363048" y="2108950"/>
            <a:ext cx="81807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8"/>
          <p:cNvSpPr/>
          <p:nvPr/>
        </p:nvSpPr>
        <p:spPr>
          <a:xfrm>
            <a:off x="234825" y="926650"/>
            <a:ext cx="8488200" cy="1182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0000" tIns="100000" rIns="100000" bIns="91425" anchor="ctr" anchorCtr="0">
            <a:noAutofit/>
          </a:bodyPr>
          <a:lstStyle/>
          <a:p>
            <a:pPr>
              <a:spcBef>
                <a:spcPts val="100"/>
              </a:spcBef>
              <a:spcAft>
                <a:spcPts val="80"/>
              </a:spcAft>
            </a:pPr>
            <a:r>
              <a:rPr lang="ko-KR" sz="800" b="1">
                <a:solidFill>
                  <a:srgbClr val="29B5E8"/>
                </a:solidFill>
              </a:rPr>
              <a:t>자연어로 질문하면, AI가 데이터를 찾아 답합니다</a:t>
            </a:r>
          </a:p>
          <a:p>
            <a:pPr marL="180000" indent="0">
              <a:spcBef>
                <a:spcPts val="30"/>
              </a:spcBef>
              <a:spcAft>
                <a:spcPts val="30"/>
              </a:spcAft>
            </a:pPr>
            <a:r>
              <a:rPr lang="ko-KR" sz="700"/>
              <a:t>Snowflake Cortex AI(GPT-5.4)가 자연어 질문을 이해하고, SQL을 자동 생성하여 Snowflake에서 직접 실행한 뒤 결과를 돌려줍니다.</a:t>
            </a:r>
          </a:p>
          <a:p>
            <a:endParaRPr lang="ko-KR" sz="700"/>
          </a:p>
          <a:p>
            <a:pPr>
              <a:spcBef>
                <a:spcPts val="350"/>
              </a:spcBef>
              <a:spcAft>
                <a:spcPts val="80"/>
              </a:spcAft>
            </a:pPr>
            <a:r>
              <a:rPr lang="ko-KR" sz="800" b="1">
                <a:solidFill>
                  <a:srgbClr val="29B5E8"/>
                </a:solidFill>
              </a:rPr>
              <a:t>출점 분석, 동네 비교, 미래 예측까지 한 화면에서</a:t>
            </a:r>
          </a:p>
          <a:p>
            <a:pPr marL="180000" indent="0">
              <a:spcBef>
                <a:spcPts val="30"/>
              </a:spcBef>
              <a:spcAft>
                <a:spcPts val="30"/>
              </a:spcAft>
            </a:pPr>
            <a:r>
              <a:rPr lang="ko-KR" sz="700"/>
              <a:t>11가지 질문 유형을 자동 분류하여, 출점 시뮬레이션·지역 비교·트렌드 분석·마케팅 ROI를 하나의 채팅창에서 처리합니다.</a:t>
            </a:r>
          </a:p>
          <a:p>
            <a:endParaRPr lang="ko-KR" sz="700"/>
          </a:p>
          <a:p>
            <a:pPr>
              <a:spcBef>
                <a:spcPts val="350"/>
              </a:spcBef>
              <a:spcAft>
                <a:spcPts val="80"/>
              </a:spcAft>
            </a:pPr>
            <a:r>
              <a:rPr lang="ko-KR" sz="800" b="1">
                <a:solidFill>
                  <a:srgbClr val="29B5E8"/>
                </a:solidFill>
              </a:rPr>
              <a:t>이어서 질문할 수 있는 대화형 분석</a:t>
            </a:r>
          </a:p>
          <a:p>
            <a:pPr marL="180000" indent="0">
              <a:spcBef>
                <a:spcPts val="30"/>
              </a:spcBef>
              <a:spcAft>
                <a:spcPts val="30"/>
              </a:spcAft>
            </a:pPr>
            <a:r>
              <a:rPr lang="ko-KR" sz="700"/>
              <a:t>"서초동 상권 알려줘" → "그 동네 부동산 추이도 보여줘"처럼 대화 맥락을 기억하여 연속적인 심층 분석이 가능합니다.</a:t>
            </a:r>
          </a:p>
        </p:txBody>
      </p:sp>
      <p:sp>
        <p:nvSpPr>
          <p:cNvPr id="335" name="Google Shape;335;p38"/>
          <p:cNvSpPr txBox="1"/>
          <p:nvPr/>
        </p:nvSpPr>
        <p:spPr>
          <a:xfrm>
            <a:off x="234050" y="71750"/>
            <a:ext cx="5609700" cy="65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000" tIns="100000" rIns="100000" bIns="91425" anchor="t" anchorCtr="0">
            <a:spAutoFit/>
          </a:bodyPr>
          <a:lstStyle/>
          <a:p>
            <a:r>
              <a:rPr sz="1800" b="1"/>
              <a:t>AI 에이전트 — 자연어로 상권 분석</a:t>
            </a:r>
          </a:p>
        </p:txBody>
      </p:sp>
      <p:sp>
        <p:nvSpPr>
          <p:cNvPr id="336" name="Google Shape;336;p38"/>
          <p:cNvSpPr txBox="1"/>
          <p:nvPr/>
        </p:nvSpPr>
        <p:spPr>
          <a:xfrm>
            <a:off x="4854874" y="4657500"/>
            <a:ext cx="37500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8"/>
          <p:cNvSpPr/>
          <p:nvPr/>
        </p:nvSpPr>
        <p:spPr>
          <a:xfrm>
            <a:off x="4796100" y="2647075"/>
            <a:ext cx="3890700" cy="2010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0000" tIns="100000" rIns="100000" bIns="91425" anchor="ctr" anchorCtr="0"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ko-KR" sz="850" b="1">
                <a:solidFill>
                  <a:srgbClr val="29B5E8"/>
                </a:solidFill>
              </a:rPr>
              <a:t>출점 시뮬레이션 기능 강화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"여기에 카페 열면 월매출 얼마나 될까?"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업종별 예상 매출을 AI가 산출하여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창업 전 리스크를 미리 검증합니다.</a:t>
            </a:r>
          </a:p>
          <a:p>
            <a:endParaRPr lang="ko-KR" sz="750"/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850" b="1">
                <a:solidFill>
                  <a:srgbClr val="29B5E8"/>
                </a:solidFill>
              </a:rPr>
              <a:t>시각화 자동 생성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질문에 따라 차트, 지도, 비교 테이블을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자동으로 생성하여 직관적으로 보여줍니다.</a:t>
            </a:r>
          </a:p>
          <a:p>
            <a:endParaRPr lang="ko-KR" sz="750"/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850" b="1">
                <a:solidFill>
                  <a:srgbClr val="29B5E8"/>
                </a:solidFill>
              </a:rPr>
              <a:t>B2B API 서비스화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프랜차이즈 본사 등 기업 고객에게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출점 후보지 자동 추천 API를 제공합니다.</a:t>
            </a:r>
          </a:p>
        </p:txBody>
      </p:sp>
      <p:sp>
        <p:nvSpPr>
          <p:cNvPr id="340" name="Google Shape;340;p38"/>
          <p:cNvSpPr txBox="1"/>
          <p:nvPr/>
        </p:nvSpPr>
        <p:spPr>
          <a:xfrm>
            <a:off x="380642" y="4657513"/>
            <a:ext cx="37500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8"/>
          <p:cNvSpPr/>
          <p:nvPr/>
        </p:nvSpPr>
        <p:spPr>
          <a:xfrm>
            <a:off x="321868" y="2647088"/>
            <a:ext cx="3890700" cy="2010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0000" tIns="100000" rIns="100000" bIns="91425" anchor="ctr" anchorCtr="0"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ko-KR" sz="850" b="1">
                <a:solidFill>
                  <a:srgbClr val="29B5E8"/>
                </a:solidFill>
              </a:rPr>
              <a:t>누구나 데이터 분석이 가능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SQL이나 코딩을 모르는 소상공인도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자연어로 상권 데이터를 직접 분석할 수 있습니다.</a:t>
            </a:r>
          </a:p>
          <a:p>
            <a:endParaRPr lang="ko-KR" sz="750"/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850" b="1">
                <a:solidFill>
                  <a:srgbClr val="29B5E8"/>
                </a:solidFill>
              </a:rPr>
              <a:t>분석 시간 99% 단축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기존에 수 시간~수 일 걸리던 분석을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AI 에이전트가 수 초 만에 처리합니다.</a:t>
            </a:r>
          </a:p>
          <a:p>
            <a:endParaRPr lang="ko-KR" sz="750"/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850" b="1">
                <a:solidFill>
                  <a:srgbClr val="29B5E8"/>
                </a:solidFill>
              </a:rPr>
              <a:t>맥락을 이해하는 분석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11가지 의도 분류로 질문에 꼭 맞는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데이터만 조회하여 정확한 답변을 제공합니다.</a:t>
            </a:r>
          </a:p>
        </p:txBody>
      </p:sp>
      <p:sp>
        <p:nvSpPr>
          <p:cNvPr id="342" name="Rounded Rectangle 341"/>
          <p:cNvSpPr/>
          <p:nvPr/>
        </p:nvSpPr>
        <p:spPr>
          <a:xfrm>
            <a:off x="234825" y="556000"/>
            <a:ext cx="2160000" cy="288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핵심 분석 인사이트</a:t>
            </a:r>
          </a:p>
        </p:txBody>
      </p:sp>
      <p:sp>
        <p:nvSpPr>
          <p:cNvPr id="343" name="Rounded Rectangle 342"/>
          <p:cNvSpPr/>
          <p:nvPr/>
        </p:nvSpPr>
        <p:spPr>
          <a:xfrm>
            <a:off x="234825" y="2300000"/>
            <a:ext cx="1440000" cy="288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기대 효과</a:t>
            </a:r>
          </a:p>
        </p:txBody>
      </p:sp>
      <p:sp>
        <p:nvSpPr>
          <p:cNvPr id="344" name="Rounded Rectangle 343"/>
          <p:cNvSpPr/>
          <p:nvPr/>
        </p:nvSpPr>
        <p:spPr>
          <a:xfrm>
            <a:off x="4706000" y="2300000"/>
            <a:ext cx="2160000" cy="288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향후 실행 방안 제안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9"/>
          <p:cNvSpPr txBox="1"/>
          <p:nvPr/>
        </p:nvSpPr>
        <p:spPr>
          <a:xfrm>
            <a:off x="363048" y="2108950"/>
            <a:ext cx="81807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9"/>
          <p:cNvSpPr/>
          <p:nvPr/>
        </p:nvSpPr>
        <p:spPr>
          <a:xfrm>
            <a:off x="234825" y="926650"/>
            <a:ext cx="8488200" cy="1182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0000" tIns="100000" rIns="100000" bIns="91425" anchor="ctr" anchorCtr="0">
            <a:noAutofit/>
          </a:bodyPr>
          <a:lstStyle/>
          <a:p>
            <a:pPr>
              <a:spcBef>
                <a:spcPts val="100"/>
              </a:spcBef>
              <a:spcAft>
                <a:spcPts val="80"/>
              </a:spcAft>
            </a:pPr>
            <a:r>
              <a:rPr lang="ko-KR" sz="800" b="1">
                <a:solidFill>
                  <a:srgbClr val="29B5E8"/>
                </a:solidFill>
              </a:rPr>
              <a:t>118개 동네를 8가지 상권 유형으로 자동 분류합니다</a:t>
            </a:r>
          </a:p>
          <a:p>
            <a:pPr marL="180000" indent="0">
              <a:spcBef>
                <a:spcPts val="30"/>
              </a:spcBef>
              <a:spcAft>
                <a:spcPts val="30"/>
              </a:spcAft>
            </a:pPr>
            <a:r>
              <a:rPr lang="ko-KR" sz="700"/>
              <a:t>낮밤 인구비, 방문 비중, 소비 집중도, 소득, MZ 비중 등 8개 특성으로 "직장인 밀집", "핫플 상권" 등 유형을 나눕니다.</a:t>
            </a:r>
          </a:p>
          <a:p>
            <a:endParaRPr lang="ko-KR" sz="700"/>
          </a:p>
          <a:p>
            <a:pPr>
              <a:spcBef>
                <a:spcPts val="350"/>
              </a:spcBef>
              <a:spcAft>
                <a:spcPts val="80"/>
              </a:spcAft>
            </a:pPr>
            <a:r>
              <a:rPr lang="ko-KR" sz="800" b="1">
                <a:solidFill>
                  <a:srgbClr val="29B5E8"/>
                </a:solidFill>
              </a:rPr>
              <a:t>"여기에 가게 열면?" — 예상 매출을 미리 계산합니다</a:t>
            </a:r>
          </a:p>
          <a:p>
            <a:pPr marL="180000" indent="0">
              <a:spcBef>
                <a:spcPts val="30"/>
              </a:spcBef>
              <a:spcAft>
                <a:spcPts val="30"/>
              </a:spcAft>
            </a:pPr>
            <a:r>
              <a:rPr lang="ko-KR" sz="700"/>
              <a:t>유동인구, 객단가, 소득 수준, 경쟁 강도를 종합하여 업종별 예상 월매출 범위를 시뮬레이션합니다.</a:t>
            </a:r>
          </a:p>
          <a:p>
            <a:endParaRPr lang="ko-KR" sz="700"/>
          </a:p>
          <a:p>
            <a:pPr>
              <a:spcBef>
                <a:spcPts val="350"/>
              </a:spcBef>
              <a:spcAft>
                <a:spcPts val="80"/>
              </a:spcAft>
            </a:pPr>
            <a:r>
              <a:rPr lang="ko-KR" sz="800" b="1">
                <a:solidFill>
                  <a:srgbClr val="29B5E8"/>
                </a:solidFill>
              </a:rPr>
              <a:t>AI가 118개 동네를 동시에 분석하여 랭킹을 매깁니다</a:t>
            </a:r>
          </a:p>
          <a:p>
            <a:pPr marL="180000" indent="0">
              <a:spcBef>
                <a:spcPts val="30"/>
              </a:spcBef>
              <a:spcAft>
                <a:spcPts val="30"/>
              </a:spcAft>
            </a:pPr>
            <a:r>
              <a:rPr lang="ko-KR" sz="700"/>
              <a:t>MiroFish AI가 클러스터별로 동네를 분석하고, 급부상/하락 동네와 유망/쇠퇴 업종 랭킹을 도출합니다.</a:t>
            </a:r>
          </a:p>
        </p:txBody>
      </p:sp>
      <p:sp>
        <p:nvSpPr>
          <p:cNvPr id="352" name="Google Shape;352;p39"/>
          <p:cNvSpPr txBox="1"/>
          <p:nvPr/>
        </p:nvSpPr>
        <p:spPr>
          <a:xfrm>
            <a:off x="234050" y="71750"/>
            <a:ext cx="5609700" cy="65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000" tIns="100000" rIns="100000" bIns="91425" anchor="t" anchorCtr="0">
            <a:spAutoFit/>
          </a:bodyPr>
          <a:lstStyle/>
          <a:p>
            <a:r>
              <a:rPr lang="ko-KR" sz="2000" b="1"/>
              <a:t>미래 예측 — 상권 유형 분류 &amp; AI 시뮬레이션</a:t>
            </a:r>
          </a:p>
        </p:txBody>
      </p:sp>
      <p:sp>
        <p:nvSpPr>
          <p:cNvPr id="353" name="Google Shape;353;p39"/>
          <p:cNvSpPr txBox="1"/>
          <p:nvPr/>
        </p:nvSpPr>
        <p:spPr>
          <a:xfrm>
            <a:off x="4854874" y="4657500"/>
            <a:ext cx="37500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9"/>
          <p:cNvSpPr/>
          <p:nvPr/>
        </p:nvSpPr>
        <p:spPr>
          <a:xfrm>
            <a:off x="4796100" y="2647075"/>
            <a:ext cx="3890700" cy="2010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0000" tIns="100000" rIns="100000" bIns="91425" anchor="ctr" anchorCtr="0"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ko-KR" sz="850" b="1">
                <a:solidFill>
                  <a:srgbClr val="29B5E8"/>
                </a:solidFill>
              </a:rPr>
              <a:t>What-if 시뮬레이션 확장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"지하철역이 새로 생기면 유동인구가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얼마나 변할까?" 같은 가상 시나리오를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시뮬레이션할 수 있도록 확장합니다.</a:t>
            </a:r>
          </a:p>
          <a:p>
            <a:endParaRPr lang="ko-KR" sz="750"/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850" b="1">
                <a:solidFill>
                  <a:srgbClr val="29B5E8"/>
                </a:solidFill>
              </a:rPr>
              <a:t>실시간 위치 데이터 연동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통신사 GPS 데이터와 연결하여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실제 시민의 이동 패턴을 반영하고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시뮬레이션 정확도를 높입니다.</a:t>
            </a:r>
          </a:p>
          <a:p>
            <a:endParaRPr lang="ko-KR" sz="750"/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850" b="1">
                <a:solidFill>
                  <a:srgbClr val="29B5E8"/>
                </a:solidFill>
              </a:rPr>
              <a:t>페르소나 기반 타겟 마케팅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성별·연령·직업군 조합으로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맞춤형 마케팅 전략을 수립합니다.</a:t>
            </a:r>
          </a:p>
        </p:txBody>
      </p:sp>
      <p:sp>
        <p:nvSpPr>
          <p:cNvPr id="357" name="Google Shape;357;p39"/>
          <p:cNvSpPr txBox="1"/>
          <p:nvPr/>
        </p:nvSpPr>
        <p:spPr>
          <a:xfrm>
            <a:off x="380642" y="4657513"/>
            <a:ext cx="37500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9"/>
          <p:cNvSpPr/>
          <p:nvPr/>
        </p:nvSpPr>
        <p:spPr>
          <a:xfrm>
            <a:off x="321868" y="2647088"/>
            <a:ext cx="3890700" cy="2010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0000" tIns="100000" rIns="100000" bIns="91425" anchor="ctr" anchorCtr="0"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ko-KR" sz="850" b="1">
                <a:solidFill>
                  <a:srgbClr val="29B5E8"/>
                </a:solidFill>
              </a:rPr>
              <a:t>내 동네는 어떤 유형인지 한눈에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"직장인 밀집", "관광/유흥" 등 8개 유형과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비슷한 성격의 동네를 자동 추천합니다.</a:t>
            </a:r>
          </a:p>
          <a:p>
            <a:endParaRPr lang="ko-KR" sz="750"/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850" b="1">
                <a:solidFill>
                  <a:srgbClr val="29B5E8"/>
                </a:solidFill>
              </a:rPr>
              <a:t>오픈 전 리스크 사전 검증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시뮬레이션으로 예상 매출 범위를 확인하고,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피크 시간대와 주요 고객층을 미리 파악합니다.</a:t>
            </a:r>
          </a:p>
          <a:p>
            <a:endParaRPr lang="ko-KR" sz="750"/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ko-KR" sz="850" b="1">
                <a:solidFill>
                  <a:srgbClr val="29B5E8"/>
                </a:solidFill>
              </a:rPr>
              <a:t>AI 기반 3개월 전망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MiroFish AI가 118개 동네를 동시에 분석하여</a:t>
            </a:r>
          </a:p>
          <a:p>
            <a:pPr marL="180000" indent="0">
              <a:spcBef>
                <a:spcPts val="50"/>
              </a:spcBef>
              <a:spcAft>
                <a:spcPts val="50"/>
              </a:spcAft>
            </a:pPr>
            <a:r>
              <a:rPr lang="ko-KR" sz="750"/>
              <a:t>향후 3개월간의 상권 변화를 예측합니다.</a:t>
            </a:r>
          </a:p>
        </p:txBody>
      </p:sp>
      <p:sp>
        <p:nvSpPr>
          <p:cNvPr id="359" name="Rounded Rectangle 358"/>
          <p:cNvSpPr/>
          <p:nvPr/>
        </p:nvSpPr>
        <p:spPr>
          <a:xfrm>
            <a:off x="234825" y="556000"/>
            <a:ext cx="2160000" cy="288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핵심 분석 인사이트</a:t>
            </a:r>
          </a:p>
        </p:txBody>
      </p:sp>
      <p:sp>
        <p:nvSpPr>
          <p:cNvPr id="360" name="Rounded Rectangle 359"/>
          <p:cNvSpPr/>
          <p:nvPr/>
        </p:nvSpPr>
        <p:spPr>
          <a:xfrm>
            <a:off x="234825" y="2300000"/>
            <a:ext cx="1440000" cy="288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기대 효과</a:t>
            </a:r>
          </a:p>
        </p:txBody>
      </p:sp>
      <p:sp>
        <p:nvSpPr>
          <p:cNvPr id="361" name="Rounded Rectangle 360"/>
          <p:cNvSpPr/>
          <p:nvPr/>
        </p:nvSpPr>
        <p:spPr>
          <a:xfrm>
            <a:off x="4706000" y="2300000"/>
            <a:ext cx="2160000" cy="288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향후 실행 방안 제안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0"/>
          <p:cNvSpPr txBox="1">
            <a:spLocks noGrp="1"/>
          </p:cNvSpPr>
          <p:nvPr>
            <p:ph type="body" idx="1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nowflake 2025.01">
  <a:themeElements>
    <a:clrScheme name="Snowflake 2018">
      <a:dk1>
        <a:srgbClr val="262626"/>
      </a:dk1>
      <a:lt1>
        <a:srgbClr val="FFFFFF"/>
      </a:lt1>
      <a:dk2>
        <a:srgbClr val="11567F"/>
      </a:dk2>
      <a:lt2>
        <a:srgbClr val="FFFFFF"/>
      </a:lt2>
      <a:accent1>
        <a:srgbClr val="29B5E8"/>
      </a:accent1>
      <a:accent2>
        <a:srgbClr val="11567F"/>
      </a:accent2>
      <a:accent3>
        <a:srgbClr val="71D3DC"/>
      </a:accent3>
      <a:accent4>
        <a:srgbClr val="FF9F36"/>
      </a:accent4>
      <a:accent5>
        <a:srgbClr val="7D44CF"/>
      </a:accent5>
      <a:accent6>
        <a:srgbClr val="D45B90"/>
      </a:accent6>
      <a:hlink>
        <a:srgbClr val="29B5E8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853</Words>
  <Application>Microsoft Office PowerPoint</Application>
  <PresentationFormat>화면 슬라이드 쇼(16:9)</PresentationFormat>
  <Paragraphs>150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Calibri</vt:lpstr>
      <vt:lpstr>Noto Sans KR</vt:lpstr>
      <vt:lpstr>Arial</vt:lpstr>
      <vt:lpstr>Montserrat</vt:lpstr>
      <vt:lpstr>Arial Black</vt:lpstr>
      <vt:lpstr>Lato</vt:lpstr>
      <vt:lpstr>Snowflake 2025.01</vt:lpstr>
      <vt:lpstr>박성우 · 박재성 · 오용석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ser u</dc:creator>
  <cp:lastModifiedBy>ser u</cp:lastModifiedBy>
  <cp:revision>1</cp:revision>
  <dcterms:modified xsi:type="dcterms:W3CDTF">2026-04-12T07:36:59Z</dcterms:modified>
</cp:coreProperties>
</file>